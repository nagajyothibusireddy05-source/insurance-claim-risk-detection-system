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script:</a:t>
            </a:r>
          </a:p>
          <a:p>
            <a:r>
              <a:t>“Good morning. My project is an Insurance Claim Risk Detection system. The goal is not to automatically declare a claim fraudulent. Instead, it uses machine learning to estimate risk, explain the signals behind the score, and help an investigator prioritize claims for manual review. I’ll walk through the problem, data pipeline, models, explainability, GenAI layer, application design, and the end-to-end workflow.”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“The key problem is prioritization. If every claim receives the same level of manual attention, investigators may spend time on low-value reviews. My system creates a risk score so the investigator can focus first on potentially suspicious claims. An important design principle is human-in-the-loop: the model assists, but it does not make the final fraud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“I designed the scope around decision support. The model produces a probability, SHAP tells us what pushed the prediction up or down, and Gemini turns those facts into readable language. But the final decision stays with the investigator. This is particularly important for a sensitive domain such as insurance.”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complete story in one minute:</a:t>
            </a:r>
          </a:p>
          <a:p>
            <a:r>
              <a:t>“A claim enters as CSV data. The system cleans it, engineers domain-relevant features, trains or loads the compared pipelines, selects an active model, produces probabilities, maps them to risk categories, explains an individual prediction with SHAP, optionally uses Gemini to summarize the evidence, and finally presents the result to a human investigator.”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“I separated responsibilities so the Streamlit pages are thin. common_app.py centralizes reusable operations such as loading, caching, scoring, authentication and sidebar controls. model_utils.py contains the ML-specific logic. This makes the application easier to maintain and reduces duplicated code across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file briefly:</a:t>
            </a:r>
          </a:p>
          <a:p>
            <a:r>
              <a:t>“app.py is the dashboard entry point. Registration is isolated in 1_Register.py. Overview contains the investigator workflow. Graphs and Tables separate analytics views. common_app.py is the reusable service layer. model_utils.py is where the ML pipeline lives. The synthetic CSV is the default input and users.json supports the local prototype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“For the prototype, I added a complete authentication flow. Registration validates the input and hashes the password using PBKDF2-HMAC with SHA-256 and a random salt. Login derives the hash again and uses compare_digest. Streamlit session state tracks whether the user is authenticated, and protected pages call require_auth(). For production, I would move authentication to a proper identity provider or secure database rather than a local JSON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“Streamlit reruns the script frequently, so caching is important. The default dataset is cached as data. The training result is cached as a resource using a hash derived from the CSV bytes. If the user uploads a different CSV, the cache key changes and the pipeline is recomputed.”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“I explicitly considered leakage. Claim ID and free-text description are not predictive inputs, and the target is removed before training. Cleaning also reports missing values and duplicates so the investigator or reviewer can see what happened to the raw data. Invalid numeric values are handled as missing inside the modeling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“Feature engineering is domain-driven. For example, days to submit captures reporting delay, claim-to-repair ratio captures the relationship between requested compensation and repair estimate, and invoice variance captures the difference between final invoice and estimate. Missing documents and historical claim activity add additional context. The purpose is to expose patterns that a model can use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“The target is kept separate from the input matrix. The shared training pipeline handles preprocessing and the estimator together, which helps keep training and prediction consistent. Three model families are compared: a simple baseline, Logistic Regression and Random Forest. I don't hard-code the assumption that the most complex model is best.”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“I compare models for a reason. Logistic Regression gives an interpretable linear baseline, while Random Forest can capture nonlinear relationships and interactions. A simple baseline tells me whether the ML models provide meaningful improvement. The final choice should be based on validation evidence and the project's risk objective.”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“Accuracy can be misleading when the positive class is relatively rare. That is why the project exposes precision, recall, F1, ROC-AUC and PR-AUC. PR-AUC is particularly relevant for ranking positive cases under imbalance. The confusion matrix then gives an operational view of false positives and false negatives.”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“The sidebar makes the model comparison interactive. The reviewer can rank the comparison table by different metrics. If All Models is selected, the first-ranked model is used. If a specific model is selected, its fitted pipeline becomes active for scoring and explanations. This is useful during model review because it separates model experimentation from the UI.”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“The active pipeline predicts the positive-class probability for every claim. The probability is stored as Fraud Risk Probability and converted by risk_category into Low, Medium or High. The investigator queue is then filtered by the selected risk categories. This is a triage mechanism, not an automatic rejection mechanism.”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“The Graphs page is intentionally separate so I can inspect the data without mixing every visualization into the dashboard. It covers label distribution, submission delay, previous claim count, claim amount versus invoice variance, policy tenure, invoice variance and the final risk probability distribution. These plots are diagnostic: they help us understand patterns, but they are not proof of causality or fraud.”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“The Tables page provides the audit-friendly view. It exposes data quality, model comparison, risk-rate segments by incident type, and scored claims with the main operational fields. Finally, the application can export all scored claims as a CSV, which supports downstream review or reporting.”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“Explainability is a core part of the project. Once an investigator selects a claim, the system calls top_contributors on the active pipeline. The UI describes each feature as increasing or decreasing model risk. This is important because a probability without an explanation is harder to trust or investigate. I also explicitly communicate that SHAP explains the model, not the truth of the claim.”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“Gemini is deliberately placed after the predictive layer. The model produces the risk score, SHAP provides the contributing signals, and Gemini converts the supplied information into a short investigator-friendly explanation. The prompt has safety constraints against inventing facts or declaring fraud. If Gemini is unavailable, the application falls back to a deterministic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a:t>
            </a:r>
          </a:p>
          <a:p>
            <a:r>
              <a:t>“Insurance claims enter the system. Data is cleaned, features are engineered, preprocessing is applied, and candidate models are compared. The active model generates a risk probability, which becomes a Low/Medium/High category. For a selected claim, SHAP identifies contributing features. Gemini turns the supplied facts into a readable summary. The final step is human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a:t>
            </a:r>
          </a:p>
          <a:p>
            <a:r>
              <a:t>“First I authenticate. Then I show the overview metrics and objective. I switch the algorithm in the sidebar to demonstrate that the active predictor changes. Next I select a claim and show its probability, risk category and SHAP contributors. If Gemini is configured, I show the natural-language explanation. Finally I open Graphs and Tables to show the analytical views and CSV export.”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“If you remember only a few technical decisions, remember these: I centralized reusable logic, used Streamlit caching, explicitly controlled leakage, compared multiple models, added SHAP for explainability, constrained the GenAI layer, provided a fallback, and kept a human investigator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t>
            </a:r>
          </a:p>
          <a:p>
            <a:r>
              <a:t>“I would not describe this prototype as production-ready. The next steps are clear: replace local authentication with a proper identity system, store users and audit logs in a database, secure secrets, add data validation and monitoring, version the model, and evaluate drift and fairness. On the ML side, I would use larger representative labeled data, validate calibration and tune thresholds according to the business cost of false positives and false negatives.”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as rapid answers:</a:t>
            </a:r>
          </a:p>
          <a:p>
            <a:r>
              <a:t>“Accuracy is not enough under imbalance.”</a:t>
            </a:r>
          </a:p>
          <a:p>
            <a:r>
              <a:t>“Random Forest captures nonlinear interactions.”</a:t>
            </a:r>
          </a:p>
          <a:p>
            <a:r>
              <a:t>“Logistic Regression gives an interpretable baseline.”</a:t>
            </a:r>
          </a:p>
          <a:p>
            <a:r>
              <a:t>“SHAP explains individual model behavior.”</a:t>
            </a:r>
          </a:p>
          <a:p>
            <a:r>
              <a:t>“Gemini does not decide fraud.”</a:t>
            </a:r>
          </a:p>
          <a:p>
            <a:r>
              <a:t>“Models can make mistakes, so humans remain in the loop.”</a:t>
            </a:r>
          </a:p>
          <a:p>
            <a:r>
              <a:t>“Leakage is controlled by excluding IDs, free text and the target.”</a:t>
            </a:r>
          </a:p>
          <a:p>
            <a:r>
              <a:t>“Gemini failure does not break the investigation screen because there is a deterministic fallback.”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script:</a:t>
            </a:r>
          </a:p>
          <a:p>
            <a:r>
              <a:t>“To summarize, this is not just a classification model. It is an end-to-end decision-support application. It accepts claim data, cleans and engineers it, compares models, scores risk, explains individual predictions, generates an investigator-friendly summary, and supports human review through a usable Streamlit interface. The strongest part of the project is the combination of predictive ML, explainability, GenAI and human-in-the-loop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58368" y="1051560"/>
            <a:ext cx="2331720" cy="347472"/>
          </a:xfrm>
          <a:prstGeom prst="round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069848"/>
            <a:ext cx="2331720" cy="256032"/>
          </a:xfrm>
          <a:prstGeom prst="rect">
            <a:avLst/>
          </a:prstGeom>
          <a:noFill/>
        </p:spPr>
        <p:txBody>
          <a:bodyPr wrap="square" anchor="ctr">
            <a:spAutoFit/>
          </a:bodyPr>
          <a:lstStyle/>
          <a:p>
            <a:pPr algn="ctr"/>
            <a:r>
              <a:rPr sz="1000" b="1">
                <a:solidFill>
                  <a:srgbClr val="F8FAFC"/>
                </a:solidFill>
                <a:latin typeface="Aptos"/>
              </a:rPr>
              <a:t>PROJECT PRESENTATION</a:t>
            </a:r>
          </a:p>
        </p:txBody>
      </p:sp>
      <p:sp>
        <p:nvSpPr>
          <p:cNvPr id="5" name="TextBox 4"/>
          <p:cNvSpPr txBox="1"/>
          <p:nvPr/>
        </p:nvSpPr>
        <p:spPr>
          <a:xfrm>
            <a:off x="658368" y="1691640"/>
            <a:ext cx="7680960" cy="1371600"/>
          </a:xfrm>
          <a:prstGeom prst="rect">
            <a:avLst/>
          </a:prstGeom>
          <a:noFill/>
        </p:spPr>
        <p:txBody>
          <a:bodyPr wrap="square" anchor="t">
            <a:spAutoFit/>
          </a:bodyPr>
          <a:lstStyle/>
          <a:p>
            <a:pPr algn="l"/>
            <a:r>
              <a:rPr sz="3700" b="1">
                <a:solidFill>
                  <a:srgbClr val="F8FAFC"/>
                </a:solidFill>
                <a:latin typeface="Aptos"/>
              </a:rPr>
              <a:t>Insurance Claim
Risk Detection</a:t>
            </a:r>
          </a:p>
        </p:txBody>
      </p:sp>
      <p:sp>
        <p:nvSpPr>
          <p:cNvPr id="6" name="TextBox 5"/>
          <p:cNvSpPr txBox="1"/>
          <p:nvPr/>
        </p:nvSpPr>
        <p:spPr>
          <a:xfrm>
            <a:off x="676656" y="3182112"/>
            <a:ext cx="7040880" cy="822960"/>
          </a:xfrm>
          <a:prstGeom prst="rect">
            <a:avLst/>
          </a:prstGeom>
          <a:noFill/>
        </p:spPr>
        <p:txBody>
          <a:bodyPr wrap="square" anchor="t">
            <a:spAutoFit/>
          </a:bodyPr>
          <a:lstStyle/>
          <a:p>
            <a:pPr algn="l"/>
            <a:r>
              <a:rPr sz="1600" b="0">
                <a:solidFill>
                  <a:srgbClr val="B2C2D6"/>
                </a:solidFill>
                <a:latin typeface="Aptos"/>
              </a:rPr>
              <a:t>A production-style prototype for risk triage, explainable machine learning and investigator-friendly GenAI explanations.</a:t>
            </a:r>
          </a:p>
        </p:txBody>
      </p:sp>
      <p:sp>
        <p:nvSpPr>
          <p:cNvPr id="7" name="TextBox 6"/>
          <p:cNvSpPr txBox="1"/>
          <p:nvPr/>
        </p:nvSpPr>
        <p:spPr>
          <a:xfrm>
            <a:off x="676656" y="4160520"/>
            <a:ext cx="6858000" cy="320040"/>
          </a:xfrm>
          <a:prstGeom prst="rect">
            <a:avLst/>
          </a:prstGeom>
          <a:noFill/>
        </p:spPr>
        <p:txBody>
          <a:bodyPr wrap="square" anchor="t">
            <a:spAutoFit/>
          </a:bodyPr>
          <a:lstStyle/>
          <a:p>
            <a:pPr algn="l"/>
            <a:r>
              <a:rPr sz="1250" b="1">
                <a:solidFill>
                  <a:srgbClr val="58C7FF"/>
                </a:solidFill>
                <a:latin typeface="Aptos"/>
              </a:rPr>
              <a:t>AI-powered risk triage • Explainable ML • Investigator support</a:t>
            </a:r>
          </a:p>
        </p:txBody>
      </p:sp>
      <p:sp>
        <p:nvSpPr>
          <p:cNvPr id="8" name="Rounded Rectangle 7"/>
          <p:cNvSpPr/>
          <p:nvPr/>
        </p:nvSpPr>
        <p:spPr>
          <a:xfrm>
            <a:off x="8229600" y="1325880"/>
            <a:ext cx="2560320" cy="685800"/>
          </a:xfrm>
          <a:prstGeom prst="roundRect">
            <a:avLst/>
          </a:prstGeom>
          <a:solidFill>
            <a:srgbClr val="122A48"/>
          </a:solidFill>
          <a:ln>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481328"/>
            <a:ext cx="2560320" cy="274320"/>
          </a:xfrm>
          <a:prstGeom prst="rect">
            <a:avLst/>
          </a:prstGeom>
          <a:noFill/>
        </p:spPr>
        <p:txBody>
          <a:bodyPr wrap="square" anchor="t">
            <a:spAutoFit/>
          </a:bodyPr>
          <a:lstStyle/>
          <a:p>
            <a:pPr algn="ctr"/>
            <a:r>
              <a:rPr sz="1300" b="1">
                <a:solidFill>
                  <a:srgbClr val="F8FAFC"/>
                </a:solidFill>
                <a:latin typeface="Aptos"/>
              </a:rPr>
              <a:t>CLAIM DATA</a:t>
            </a:r>
          </a:p>
        </p:txBody>
      </p:sp>
      <p:sp>
        <p:nvSpPr>
          <p:cNvPr id="10" name="Rounded Rectangle 9"/>
          <p:cNvSpPr/>
          <p:nvPr/>
        </p:nvSpPr>
        <p:spPr>
          <a:xfrm>
            <a:off x="7818120" y="2148840"/>
            <a:ext cx="2971800" cy="685800"/>
          </a:xfrm>
          <a:prstGeom prst="roundRect">
            <a:avLst/>
          </a:prstGeom>
          <a:solidFill>
            <a:srgbClr val="0E1F36"/>
          </a:solidFill>
          <a:ln>
            <a:solidFill>
              <a:srgbClr val="58C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304288"/>
            <a:ext cx="2971800" cy="274320"/>
          </a:xfrm>
          <a:prstGeom prst="rect">
            <a:avLst/>
          </a:prstGeom>
          <a:noFill/>
        </p:spPr>
        <p:txBody>
          <a:bodyPr wrap="square" anchor="t">
            <a:spAutoFit/>
          </a:bodyPr>
          <a:lstStyle/>
          <a:p>
            <a:pPr algn="ctr"/>
            <a:r>
              <a:rPr sz="1300" b="1">
                <a:solidFill>
                  <a:srgbClr val="F8FAFC"/>
                </a:solidFill>
                <a:latin typeface="Aptos"/>
              </a:rPr>
              <a:t>FEATURES</a:t>
            </a:r>
          </a:p>
        </p:txBody>
      </p:sp>
      <p:sp>
        <p:nvSpPr>
          <p:cNvPr id="12" name="Rounded Rectangle 11"/>
          <p:cNvSpPr/>
          <p:nvPr/>
        </p:nvSpPr>
        <p:spPr>
          <a:xfrm>
            <a:off x="8275320" y="2971800"/>
            <a:ext cx="2423160" cy="685800"/>
          </a:xfrm>
          <a:prstGeom prst="roundRect">
            <a:avLst/>
          </a:prstGeom>
          <a:solidFill>
            <a:srgbClr val="122A48"/>
          </a:solidFill>
          <a:ln>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3127248"/>
            <a:ext cx="2423160" cy="274320"/>
          </a:xfrm>
          <a:prstGeom prst="rect">
            <a:avLst/>
          </a:prstGeom>
          <a:noFill/>
        </p:spPr>
        <p:txBody>
          <a:bodyPr wrap="square" anchor="t">
            <a:spAutoFit/>
          </a:bodyPr>
          <a:lstStyle/>
          <a:p>
            <a:pPr algn="ctr"/>
            <a:r>
              <a:rPr sz="1300" b="1">
                <a:solidFill>
                  <a:srgbClr val="F8FAFC"/>
                </a:solidFill>
                <a:latin typeface="Aptos"/>
              </a:rPr>
              <a:t>RISK SCORE</a:t>
            </a:r>
          </a:p>
        </p:txBody>
      </p:sp>
      <p:sp>
        <p:nvSpPr>
          <p:cNvPr id="14" name="Rounded Rectangle 13"/>
          <p:cNvSpPr/>
          <p:nvPr/>
        </p:nvSpPr>
        <p:spPr>
          <a:xfrm>
            <a:off x="7726679" y="3794760"/>
            <a:ext cx="3154680" cy="685800"/>
          </a:xfrm>
          <a:prstGeom prst="roundRect">
            <a:avLst/>
          </a:prstGeom>
          <a:solidFill>
            <a:srgbClr val="0E1F36"/>
          </a:solidFill>
          <a:ln>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950208"/>
            <a:ext cx="3154680" cy="274320"/>
          </a:xfrm>
          <a:prstGeom prst="rect">
            <a:avLst/>
          </a:prstGeom>
          <a:noFill/>
        </p:spPr>
        <p:txBody>
          <a:bodyPr wrap="square" anchor="t">
            <a:spAutoFit/>
          </a:bodyPr>
          <a:lstStyle/>
          <a:p>
            <a:pPr algn="ctr"/>
            <a:r>
              <a:rPr sz="1300" b="1">
                <a:solidFill>
                  <a:srgbClr val="F8FAFC"/>
                </a:solidFill>
                <a:latin typeface="Aptos"/>
              </a:rPr>
              <a:t>EXPLANATION</a:t>
            </a:r>
          </a:p>
        </p:txBody>
      </p:sp>
      <p:sp>
        <p:nvSpPr>
          <p:cNvPr id="16" name="TextBox 15"/>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7" name="TextBox 16"/>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01 • PROBLEM</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The business problem</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Why claim investigation benefits from risk-based prioritization.</a:t>
            </a:r>
          </a:p>
        </p:txBody>
      </p:sp>
      <p:sp>
        <p:nvSpPr>
          <p:cNvPr id="6" name="Rounded Rectangle 5"/>
          <p:cNvSpPr/>
          <p:nvPr/>
        </p:nvSpPr>
        <p:spPr>
          <a:xfrm>
            <a:off x="594360" y="1645920"/>
            <a:ext cx="34290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45920"/>
            <a:ext cx="50292" cy="42519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810512"/>
            <a:ext cx="3063240" cy="320040"/>
          </a:xfrm>
          <a:prstGeom prst="rect">
            <a:avLst/>
          </a:prstGeom>
          <a:noFill/>
        </p:spPr>
        <p:txBody>
          <a:bodyPr wrap="square" anchor="t">
            <a:spAutoFit/>
          </a:bodyPr>
          <a:lstStyle/>
          <a:p>
            <a:pPr algn="l"/>
            <a:r>
              <a:rPr sz="1500" b="1">
                <a:solidFill>
                  <a:srgbClr val="F8FAFC"/>
                </a:solidFill>
                <a:latin typeface="Aptos"/>
              </a:rPr>
              <a:t>Traditional challenge</a:t>
            </a:r>
          </a:p>
        </p:txBody>
      </p:sp>
      <p:sp>
        <p:nvSpPr>
          <p:cNvPr id="9" name="TextBox 8"/>
          <p:cNvSpPr txBox="1"/>
          <p:nvPr/>
        </p:nvSpPr>
        <p:spPr>
          <a:xfrm>
            <a:off x="795528" y="2212848"/>
            <a:ext cx="3044952" cy="3566160"/>
          </a:xfrm>
          <a:prstGeom prst="rect">
            <a:avLst/>
          </a:prstGeom>
          <a:noFill/>
        </p:spPr>
        <p:txBody>
          <a:bodyPr wrap="square" anchor="t">
            <a:spAutoFit/>
          </a:bodyPr>
          <a:lstStyle/>
          <a:p>
            <a:pPr algn="l"/>
            <a:r>
              <a:rPr sz="1120" b="0">
                <a:solidFill>
                  <a:srgbClr val="B2C2D6"/>
                </a:solidFill>
                <a:latin typeface="Aptos"/>
              </a:rPr>
              <a:t>Large volumes of claims can make manual investigation slow. Reviewers need a way to identify which claims deserve attention first.</a:t>
            </a:r>
          </a:p>
        </p:txBody>
      </p:sp>
      <p:sp>
        <p:nvSpPr>
          <p:cNvPr id="10" name="Rounded Rectangle 9"/>
          <p:cNvSpPr/>
          <p:nvPr/>
        </p:nvSpPr>
        <p:spPr>
          <a:xfrm>
            <a:off x="4370832" y="1645920"/>
            <a:ext cx="34290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645920"/>
            <a:ext cx="50292" cy="425196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10512"/>
            <a:ext cx="3063240" cy="320040"/>
          </a:xfrm>
          <a:prstGeom prst="rect">
            <a:avLst/>
          </a:prstGeom>
          <a:noFill/>
        </p:spPr>
        <p:txBody>
          <a:bodyPr wrap="square" anchor="t">
            <a:spAutoFit/>
          </a:bodyPr>
          <a:lstStyle/>
          <a:p>
            <a:pPr algn="l"/>
            <a:r>
              <a:rPr sz="1500" b="1">
                <a:solidFill>
                  <a:srgbClr val="F8FAFC"/>
                </a:solidFill>
                <a:latin typeface="Aptos"/>
              </a:rPr>
              <a:t>ML opportunity</a:t>
            </a:r>
          </a:p>
        </p:txBody>
      </p:sp>
      <p:sp>
        <p:nvSpPr>
          <p:cNvPr id="13" name="TextBox 12"/>
          <p:cNvSpPr txBox="1"/>
          <p:nvPr/>
        </p:nvSpPr>
        <p:spPr>
          <a:xfrm>
            <a:off x="4572000" y="2212848"/>
            <a:ext cx="3044952" cy="3566160"/>
          </a:xfrm>
          <a:prstGeom prst="rect">
            <a:avLst/>
          </a:prstGeom>
          <a:noFill/>
        </p:spPr>
        <p:txBody>
          <a:bodyPr wrap="square" anchor="t">
            <a:spAutoFit/>
          </a:bodyPr>
          <a:lstStyle/>
          <a:p>
            <a:pPr algn="l"/>
            <a:r>
              <a:rPr sz="1120" b="0">
                <a:solidFill>
                  <a:srgbClr val="B2C2D6"/>
                </a:solidFill>
                <a:latin typeface="Aptos"/>
              </a:rPr>
              <a:t>Learn patterns from historical claim data and convert them into a probability-based risk score rather than relying on a single rule.</a:t>
            </a:r>
          </a:p>
        </p:txBody>
      </p:sp>
      <p:sp>
        <p:nvSpPr>
          <p:cNvPr id="14" name="Rounded Rectangle 13"/>
          <p:cNvSpPr/>
          <p:nvPr/>
        </p:nvSpPr>
        <p:spPr>
          <a:xfrm>
            <a:off x="8147304" y="1645920"/>
            <a:ext cx="34290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47304" y="1645920"/>
            <a:ext cx="50292" cy="425196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1810512"/>
            <a:ext cx="3063240" cy="320040"/>
          </a:xfrm>
          <a:prstGeom prst="rect">
            <a:avLst/>
          </a:prstGeom>
          <a:noFill/>
        </p:spPr>
        <p:txBody>
          <a:bodyPr wrap="square" anchor="t">
            <a:spAutoFit/>
          </a:bodyPr>
          <a:lstStyle/>
          <a:p>
            <a:pPr algn="l"/>
            <a:r>
              <a:rPr sz="1500" b="1">
                <a:solidFill>
                  <a:srgbClr val="F8FAFC"/>
                </a:solidFill>
                <a:latin typeface="Aptos"/>
              </a:rPr>
              <a:t>Human decision remains central</a:t>
            </a:r>
          </a:p>
        </p:txBody>
      </p:sp>
      <p:sp>
        <p:nvSpPr>
          <p:cNvPr id="17" name="TextBox 16"/>
          <p:cNvSpPr txBox="1"/>
          <p:nvPr/>
        </p:nvSpPr>
        <p:spPr>
          <a:xfrm>
            <a:off x="8348472" y="2212848"/>
            <a:ext cx="3044952" cy="3566160"/>
          </a:xfrm>
          <a:prstGeom prst="rect">
            <a:avLst/>
          </a:prstGeom>
          <a:noFill/>
        </p:spPr>
        <p:txBody>
          <a:bodyPr wrap="square" anchor="t">
            <a:spAutoFit/>
          </a:bodyPr>
          <a:lstStyle/>
          <a:p>
            <a:pPr algn="l"/>
            <a:r>
              <a:rPr sz="1120" b="0">
                <a:solidFill>
                  <a:srgbClr val="B2C2D6"/>
                </a:solidFill>
                <a:latin typeface="Aptos"/>
              </a:rPr>
              <a:t>The system supports investigators. A risk score or explanation is a review signal—not proof of fraud and not the final claim decision.</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02 • OBJECTIVE</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Project objective &amp; scope</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system combines prediction, explanation and workflow support.</a:t>
            </a:r>
          </a:p>
        </p:txBody>
      </p:sp>
      <p:sp>
        <p:nvSpPr>
          <p:cNvPr id="6" name="TextBox 5"/>
          <p:cNvSpPr txBox="1"/>
          <p:nvPr/>
        </p:nvSpPr>
        <p:spPr>
          <a:xfrm>
            <a:off x="640080" y="1572768"/>
            <a:ext cx="2743200" cy="320040"/>
          </a:xfrm>
          <a:prstGeom prst="rect">
            <a:avLst/>
          </a:prstGeom>
          <a:noFill/>
        </p:spPr>
        <p:txBody>
          <a:bodyPr wrap="square" anchor="t">
            <a:spAutoFit/>
          </a:bodyPr>
          <a:lstStyle/>
          <a:p>
            <a:pPr algn="l"/>
            <a:r>
              <a:rPr sz="1500" b="1">
                <a:solidFill>
                  <a:srgbClr val="58C7FF"/>
                </a:solidFill>
                <a:latin typeface="Aptos"/>
              </a:rPr>
              <a:t>Core objective</a:t>
            </a:r>
          </a:p>
        </p:txBody>
      </p:sp>
      <p:sp>
        <p:nvSpPr>
          <p:cNvPr id="7" name="TextBox 6"/>
          <p:cNvSpPr txBox="1"/>
          <p:nvPr/>
        </p:nvSpPr>
        <p:spPr>
          <a:xfrm>
            <a:off x="658368" y="1965960"/>
            <a:ext cx="5486400" cy="3474720"/>
          </a:xfrm>
          <a:prstGeom prst="rect">
            <a:avLst/>
          </a:prstGeom>
          <a:noFill/>
        </p:spPr>
        <p:txBody>
          <a:bodyPr wrap="square">
            <a:spAutoFit/>
          </a:bodyPr>
          <a:lstStyle/>
          <a:p>
            <a:pPr>
              <a:spcAft>
                <a:spcPts val="500"/>
              </a:spcAft>
              <a:defRPr sz="1400">
                <a:solidFill>
                  <a:srgbClr val="E5EDF7"/>
                </a:solidFill>
                <a:latin typeface="Aptos"/>
              </a:defRPr>
            </a:pPr>
            <a:r>
              <a:t>• Identify potentially suspicious or high-risk insurance claims.</a:t>
            </a:r>
          </a:p>
          <a:p>
            <a:pPr>
              <a:spcAft>
                <a:spcPts val="500"/>
              </a:spcAft>
              <a:defRPr sz="1400">
                <a:solidFill>
                  <a:srgbClr val="E5EDF7"/>
                </a:solidFill>
                <a:latin typeface="Aptos"/>
              </a:defRPr>
            </a:pPr>
            <a:r>
              <a:t>• Predict a continuous risk probability for each claim.</a:t>
            </a:r>
          </a:p>
          <a:p>
            <a:pPr>
              <a:spcAft>
                <a:spcPts val="500"/>
              </a:spcAft>
              <a:defRPr sz="1400">
                <a:solidFill>
                  <a:srgbClr val="E5EDF7"/>
                </a:solidFill>
                <a:latin typeface="Aptos"/>
              </a:defRPr>
            </a:pPr>
            <a:r>
              <a:t>• Translate probability into Low / Medium / High risk categories.</a:t>
            </a:r>
          </a:p>
          <a:p>
            <a:pPr>
              <a:spcAft>
                <a:spcPts val="500"/>
              </a:spcAft>
              <a:defRPr sz="1400">
                <a:solidFill>
                  <a:srgbClr val="E5EDF7"/>
                </a:solidFill>
                <a:latin typeface="Aptos"/>
              </a:defRPr>
            </a:pPr>
            <a:r>
              <a:t>• Explain individual predictions with SHAP contributing factors.</a:t>
            </a:r>
          </a:p>
          <a:p>
            <a:pPr>
              <a:spcAft>
                <a:spcPts val="500"/>
              </a:spcAft>
              <a:defRPr sz="1400">
                <a:solidFill>
                  <a:srgbClr val="E5EDF7"/>
                </a:solidFill>
                <a:latin typeface="Aptos"/>
              </a:defRPr>
            </a:pPr>
            <a:r>
              <a:t>• Generate a concise investigator-friendly explanation using Gemini.</a:t>
            </a:r>
          </a:p>
          <a:p>
            <a:pPr>
              <a:spcAft>
                <a:spcPts val="500"/>
              </a:spcAft>
              <a:defRPr sz="1400">
                <a:solidFill>
                  <a:srgbClr val="E5EDF7"/>
                </a:solidFill>
                <a:latin typeface="Aptos"/>
              </a:defRPr>
            </a:pPr>
            <a:r>
              <a:t>• Let a human investigator review and decide what to do next.</a:t>
            </a:r>
          </a:p>
        </p:txBody>
      </p:sp>
      <p:sp>
        <p:nvSpPr>
          <p:cNvPr id="8" name="Rounded Rectangle 7"/>
          <p:cNvSpPr/>
          <p:nvPr/>
        </p:nvSpPr>
        <p:spPr>
          <a:xfrm>
            <a:off x="6629400" y="1572768"/>
            <a:ext cx="4892040" cy="40690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1572768"/>
            <a:ext cx="50292" cy="406908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0568" y="1737360"/>
            <a:ext cx="4526279" cy="320040"/>
          </a:xfrm>
          <a:prstGeom prst="rect">
            <a:avLst/>
          </a:prstGeom>
          <a:noFill/>
        </p:spPr>
        <p:txBody>
          <a:bodyPr wrap="square" anchor="t">
            <a:spAutoFit/>
          </a:bodyPr>
          <a:lstStyle/>
          <a:p>
            <a:pPr algn="l"/>
            <a:r>
              <a:rPr sz="1500" b="1">
                <a:solidFill>
                  <a:srgbClr val="F8FAFC"/>
                </a:solidFill>
                <a:latin typeface="Aptos"/>
              </a:rPr>
              <a:t>What the system deliberately does NOT do</a:t>
            </a:r>
          </a:p>
        </p:txBody>
      </p:sp>
      <p:sp>
        <p:nvSpPr>
          <p:cNvPr id="11" name="TextBox 10"/>
          <p:cNvSpPr txBox="1"/>
          <p:nvPr/>
        </p:nvSpPr>
        <p:spPr>
          <a:xfrm>
            <a:off x="6830568" y="2139696"/>
            <a:ext cx="4507992" cy="3383280"/>
          </a:xfrm>
          <a:prstGeom prst="rect">
            <a:avLst/>
          </a:prstGeom>
          <a:noFill/>
        </p:spPr>
        <p:txBody>
          <a:bodyPr wrap="square" anchor="t">
            <a:spAutoFit/>
          </a:bodyPr>
          <a:lstStyle/>
          <a:p>
            <a:pPr algn="l"/>
            <a:r>
              <a:rPr sz="1120" b="0">
                <a:solidFill>
                  <a:srgbClr val="B2C2D6"/>
                </a:solidFill>
                <a:latin typeface="Aptos"/>
              </a:rPr>
              <a:t>• Does not prove fraud
• Does not replace an investigator
• Does not use the target label as an input feature
• Does not let Gemini make the fraud decision
• Does not treat a single risk signal as conclusive evidence</a:t>
            </a:r>
          </a:p>
        </p:txBody>
      </p:sp>
      <p:sp>
        <p:nvSpPr>
          <p:cNvPr id="12" name="TextBox 11"/>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3" name="TextBox 12"/>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03 • SOLUTION</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System at a glance</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application connects data processing, ML scoring, explainability and the investigator UI.</a:t>
            </a:r>
          </a:p>
        </p:txBody>
      </p:sp>
      <p:sp>
        <p:nvSpPr>
          <p:cNvPr id="6" name="Rounded Rectangle 5"/>
          <p:cNvSpPr/>
          <p:nvPr/>
        </p:nvSpPr>
        <p:spPr>
          <a:xfrm>
            <a:off x="566928" y="16002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600200"/>
            <a:ext cx="50292" cy="150876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764792"/>
            <a:ext cx="2148840" cy="320040"/>
          </a:xfrm>
          <a:prstGeom prst="rect">
            <a:avLst/>
          </a:prstGeom>
          <a:noFill/>
        </p:spPr>
        <p:txBody>
          <a:bodyPr wrap="square" anchor="t">
            <a:spAutoFit/>
          </a:bodyPr>
          <a:lstStyle/>
          <a:p>
            <a:pPr algn="l"/>
            <a:r>
              <a:rPr sz="1500" b="1">
                <a:solidFill>
                  <a:srgbClr val="F8FAFC"/>
                </a:solidFill>
                <a:latin typeface="Aptos"/>
              </a:rPr>
              <a:t>1  Claims CSV</a:t>
            </a:r>
          </a:p>
        </p:txBody>
      </p:sp>
      <p:sp>
        <p:nvSpPr>
          <p:cNvPr id="9" name="TextBox 8"/>
          <p:cNvSpPr txBox="1"/>
          <p:nvPr/>
        </p:nvSpPr>
        <p:spPr>
          <a:xfrm>
            <a:off x="768096" y="2167128"/>
            <a:ext cx="2130552" cy="822959"/>
          </a:xfrm>
          <a:prstGeom prst="rect">
            <a:avLst/>
          </a:prstGeom>
          <a:noFill/>
        </p:spPr>
        <p:txBody>
          <a:bodyPr wrap="square" anchor="t">
            <a:spAutoFit/>
          </a:bodyPr>
          <a:lstStyle/>
          <a:p>
            <a:pPr algn="l"/>
            <a:r>
              <a:rPr sz="1120" b="0">
                <a:solidFill>
                  <a:srgbClr val="B2C2D6"/>
                </a:solidFill>
                <a:latin typeface="Aptos"/>
              </a:rPr>
              <a:t>Included synthetic dataset or user-uploaded CSV</a:t>
            </a:r>
          </a:p>
        </p:txBody>
      </p:sp>
      <p:sp>
        <p:nvSpPr>
          <p:cNvPr id="10" name="Rounded Rectangle 9"/>
          <p:cNvSpPr/>
          <p:nvPr/>
        </p:nvSpPr>
        <p:spPr>
          <a:xfrm>
            <a:off x="3447288" y="16002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47288" y="1600200"/>
            <a:ext cx="50292" cy="150876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8456" y="1764792"/>
            <a:ext cx="2148840" cy="320040"/>
          </a:xfrm>
          <a:prstGeom prst="rect">
            <a:avLst/>
          </a:prstGeom>
          <a:noFill/>
        </p:spPr>
        <p:txBody>
          <a:bodyPr wrap="square" anchor="t">
            <a:spAutoFit/>
          </a:bodyPr>
          <a:lstStyle/>
          <a:p>
            <a:pPr algn="l"/>
            <a:r>
              <a:rPr sz="1500" b="1">
                <a:solidFill>
                  <a:srgbClr val="F8FAFC"/>
                </a:solidFill>
                <a:latin typeface="Aptos"/>
              </a:rPr>
              <a:t>2  Cleaning</a:t>
            </a:r>
          </a:p>
        </p:txBody>
      </p:sp>
      <p:sp>
        <p:nvSpPr>
          <p:cNvPr id="13" name="TextBox 12"/>
          <p:cNvSpPr txBox="1"/>
          <p:nvPr/>
        </p:nvSpPr>
        <p:spPr>
          <a:xfrm>
            <a:off x="3648456" y="2167128"/>
            <a:ext cx="2130552" cy="822959"/>
          </a:xfrm>
          <a:prstGeom prst="rect">
            <a:avLst/>
          </a:prstGeom>
          <a:noFill/>
        </p:spPr>
        <p:txBody>
          <a:bodyPr wrap="square" anchor="t">
            <a:spAutoFit/>
          </a:bodyPr>
          <a:lstStyle/>
          <a:p>
            <a:pPr algn="l"/>
            <a:r>
              <a:rPr sz="1120" b="0">
                <a:solidFill>
                  <a:srgbClr val="B2C2D6"/>
                </a:solidFill>
                <a:latin typeface="Aptos"/>
              </a:rPr>
              <a:t>Duplicates, invalid numeric values, missing-value handling</a:t>
            </a:r>
          </a:p>
        </p:txBody>
      </p:sp>
      <p:sp>
        <p:nvSpPr>
          <p:cNvPr id="14" name="Rounded Rectangle 13"/>
          <p:cNvSpPr/>
          <p:nvPr/>
        </p:nvSpPr>
        <p:spPr>
          <a:xfrm>
            <a:off x="6327648" y="16002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27648" y="1600200"/>
            <a:ext cx="50292" cy="150876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764792"/>
            <a:ext cx="2148840" cy="320040"/>
          </a:xfrm>
          <a:prstGeom prst="rect">
            <a:avLst/>
          </a:prstGeom>
          <a:noFill/>
        </p:spPr>
        <p:txBody>
          <a:bodyPr wrap="square" anchor="t">
            <a:spAutoFit/>
          </a:bodyPr>
          <a:lstStyle/>
          <a:p>
            <a:pPr algn="l"/>
            <a:r>
              <a:rPr sz="1500" b="1">
                <a:solidFill>
                  <a:srgbClr val="F8FAFC"/>
                </a:solidFill>
                <a:latin typeface="Aptos"/>
              </a:rPr>
              <a:t>3  Features</a:t>
            </a:r>
          </a:p>
        </p:txBody>
      </p:sp>
      <p:sp>
        <p:nvSpPr>
          <p:cNvPr id="17" name="TextBox 16"/>
          <p:cNvSpPr txBox="1"/>
          <p:nvPr/>
        </p:nvSpPr>
        <p:spPr>
          <a:xfrm>
            <a:off x="6528816" y="2167128"/>
            <a:ext cx="2130552" cy="822959"/>
          </a:xfrm>
          <a:prstGeom prst="rect">
            <a:avLst/>
          </a:prstGeom>
          <a:noFill/>
        </p:spPr>
        <p:txBody>
          <a:bodyPr wrap="square" anchor="t">
            <a:spAutoFit/>
          </a:bodyPr>
          <a:lstStyle/>
          <a:p>
            <a:pPr algn="l"/>
            <a:r>
              <a:rPr sz="1120" b="0">
                <a:solidFill>
                  <a:srgbClr val="B2C2D6"/>
                </a:solidFill>
                <a:latin typeface="Aptos"/>
              </a:rPr>
              <a:t>Domain-inspired engineered risk signals</a:t>
            </a:r>
          </a:p>
        </p:txBody>
      </p:sp>
      <p:sp>
        <p:nvSpPr>
          <p:cNvPr id="18" name="Rounded Rectangle 17"/>
          <p:cNvSpPr/>
          <p:nvPr/>
        </p:nvSpPr>
        <p:spPr>
          <a:xfrm>
            <a:off x="9208007" y="16002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8007" y="1600200"/>
            <a:ext cx="50292" cy="150876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09176" y="1764792"/>
            <a:ext cx="2148840" cy="320040"/>
          </a:xfrm>
          <a:prstGeom prst="rect">
            <a:avLst/>
          </a:prstGeom>
          <a:noFill/>
        </p:spPr>
        <p:txBody>
          <a:bodyPr wrap="square" anchor="t">
            <a:spAutoFit/>
          </a:bodyPr>
          <a:lstStyle/>
          <a:p>
            <a:pPr algn="l"/>
            <a:r>
              <a:rPr sz="1500" b="1">
                <a:solidFill>
                  <a:srgbClr val="F8FAFC"/>
                </a:solidFill>
                <a:latin typeface="Aptos"/>
              </a:rPr>
              <a:t>4  Models</a:t>
            </a:r>
          </a:p>
        </p:txBody>
      </p:sp>
      <p:sp>
        <p:nvSpPr>
          <p:cNvPr id="21" name="TextBox 20"/>
          <p:cNvSpPr txBox="1"/>
          <p:nvPr/>
        </p:nvSpPr>
        <p:spPr>
          <a:xfrm>
            <a:off x="9409176" y="2167128"/>
            <a:ext cx="2130552" cy="822959"/>
          </a:xfrm>
          <a:prstGeom prst="rect">
            <a:avLst/>
          </a:prstGeom>
          <a:noFill/>
        </p:spPr>
        <p:txBody>
          <a:bodyPr wrap="square" anchor="t">
            <a:spAutoFit/>
          </a:bodyPr>
          <a:lstStyle/>
          <a:p>
            <a:pPr algn="l"/>
            <a:r>
              <a:rPr sz="1120" b="0">
                <a:solidFill>
                  <a:srgbClr val="B2C2D6"/>
                </a:solidFill>
                <a:latin typeface="Aptos"/>
              </a:rPr>
              <a:t>Baseline + Logistic Regression + Random Forest</a:t>
            </a:r>
          </a:p>
        </p:txBody>
      </p:sp>
      <p:sp>
        <p:nvSpPr>
          <p:cNvPr id="22" name="Rounded Rectangle 21"/>
          <p:cNvSpPr/>
          <p:nvPr/>
        </p:nvSpPr>
        <p:spPr>
          <a:xfrm>
            <a:off x="566928" y="36576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657600"/>
            <a:ext cx="50292" cy="150876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3822191"/>
            <a:ext cx="2148840" cy="320040"/>
          </a:xfrm>
          <a:prstGeom prst="rect">
            <a:avLst/>
          </a:prstGeom>
          <a:noFill/>
        </p:spPr>
        <p:txBody>
          <a:bodyPr wrap="square" anchor="t">
            <a:spAutoFit/>
          </a:bodyPr>
          <a:lstStyle/>
          <a:p>
            <a:pPr algn="l"/>
            <a:r>
              <a:rPr sz="1500" b="1">
                <a:solidFill>
                  <a:srgbClr val="F8FAFC"/>
                </a:solidFill>
                <a:latin typeface="Aptos"/>
              </a:rPr>
              <a:t>5  Scoring</a:t>
            </a:r>
          </a:p>
        </p:txBody>
      </p:sp>
      <p:sp>
        <p:nvSpPr>
          <p:cNvPr id="25" name="TextBox 24"/>
          <p:cNvSpPr txBox="1"/>
          <p:nvPr/>
        </p:nvSpPr>
        <p:spPr>
          <a:xfrm>
            <a:off x="768096" y="4224528"/>
            <a:ext cx="2130552" cy="822959"/>
          </a:xfrm>
          <a:prstGeom prst="rect">
            <a:avLst/>
          </a:prstGeom>
          <a:noFill/>
        </p:spPr>
        <p:txBody>
          <a:bodyPr wrap="square" anchor="t">
            <a:spAutoFit/>
          </a:bodyPr>
          <a:lstStyle/>
          <a:p>
            <a:pPr algn="l"/>
            <a:r>
              <a:rPr sz="1120" b="0">
                <a:solidFill>
                  <a:srgbClr val="B2C2D6"/>
                </a:solidFill>
                <a:latin typeface="Aptos"/>
              </a:rPr>
              <a:t>Probability → Low / Medium / High</a:t>
            </a:r>
          </a:p>
        </p:txBody>
      </p:sp>
      <p:sp>
        <p:nvSpPr>
          <p:cNvPr id="26" name="Rounded Rectangle 25"/>
          <p:cNvSpPr/>
          <p:nvPr/>
        </p:nvSpPr>
        <p:spPr>
          <a:xfrm>
            <a:off x="3447288" y="36576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47288" y="3657600"/>
            <a:ext cx="50292" cy="150876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822191"/>
            <a:ext cx="2148840" cy="320040"/>
          </a:xfrm>
          <a:prstGeom prst="rect">
            <a:avLst/>
          </a:prstGeom>
          <a:noFill/>
        </p:spPr>
        <p:txBody>
          <a:bodyPr wrap="square" anchor="t">
            <a:spAutoFit/>
          </a:bodyPr>
          <a:lstStyle/>
          <a:p>
            <a:pPr algn="l"/>
            <a:r>
              <a:rPr sz="1500" b="1">
                <a:solidFill>
                  <a:srgbClr val="F8FAFC"/>
                </a:solidFill>
                <a:latin typeface="Aptos"/>
              </a:rPr>
              <a:t>6  Explain</a:t>
            </a:r>
          </a:p>
        </p:txBody>
      </p:sp>
      <p:sp>
        <p:nvSpPr>
          <p:cNvPr id="29" name="TextBox 28"/>
          <p:cNvSpPr txBox="1"/>
          <p:nvPr/>
        </p:nvSpPr>
        <p:spPr>
          <a:xfrm>
            <a:off x="3648456" y="4224528"/>
            <a:ext cx="2130552" cy="822959"/>
          </a:xfrm>
          <a:prstGeom prst="rect">
            <a:avLst/>
          </a:prstGeom>
          <a:noFill/>
        </p:spPr>
        <p:txBody>
          <a:bodyPr wrap="square" anchor="t">
            <a:spAutoFit/>
          </a:bodyPr>
          <a:lstStyle/>
          <a:p>
            <a:pPr algn="l"/>
            <a:r>
              <a:rPr sz="1120" b="0">
                <a:solidFill>
                  <a:srgbClr val="B2C2D6"/>
                </a:solidFill>
                <a:latin typeface="Aptos"/>
              </a:rPr>
              <a:t>SHAP + Gemini natural-language summary</a:t>
            </a:r>
          </a:p>
        </p:txBody>
      </p:sp>
      <p:sp>
        <p:nvSpPr>
          <p:cNvPr id="30" name="Rounded Rectangle 29"/>
          <p:cNvSpPr/>
          <p:nvPr/>
        </p:nvSpPr>
        <p:spPr>
          <a:xfrm>
            <a:off x="6327648" y="3657600"/>
            <a:ext cx="251460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27648" y="3657600"/>
            <a:ext cx="50292" cy="15087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8816" y="3822191"/>
            <a:ext cx="2148840" cy="320040"/>
          </a:xfrm>
          <a:prstGeom prst="rect">
            <a:avLst/>
          </a:prstGeom>
          <a:noFill/>
        </p:spPr>
        <p:txBody>
          <a:bodyPr wrap="square" anchor="t">
            <a:spAutoFit/>
          </a:bodyPr>
          <a:lstStyle/>
          <a:p>
            <a:pPr algn="l"/>
            <a:r>
              <a:rPr sz="1500" b="1">
                <a:solidFill>
                  <a:srgbClr val="F8FAFC"/>
                </a:solidFill>
                <a:latin typeface="Aptos"/>
              </a:rPr>
              <a:t>7  Review</a:t>
            </a:r>
          </a:p>
        </p:txBody>
      </p:sp>
      <p:sp>
        <p:nvSpPr>
          <p:cNvPr id="33" name="TextBox 32"/>
          <p:cNvSpPr txBox="1"/>
          <p:nvPr/>
        </p:nvSpPr>
        <p:spPr>
          <a:xfrm>
            <a:off x="6528816" y="4224528"/>
            <a:ext cx="2130552" cy="822959"/>
          </a:xfrm>
          <a:prstGeom prst="rect">
            <a:avLst/>
          </a:prstGeom>
          <a:noFill/>
        </p:spPr>
        <p:txBody>
          <a:bodyPr wrap="square" anchor="t">
            <a:spAutoFit/>
          </a:bodyPr>
          <a:lstStyle/>
          <a:p>
            <a:pPr algn="l"/>
            <a:r>
              <a:rPr sz="1120" b="0">
                <a:solidFill>
                  <a:srgbClr val="B2C2D6"/>
                </a:solidFill>
                <a:latin typeface="Aptos"/>
              </a:rPr>
              <a:t>Investigator reviews prioritized claims</a:t>
            </a:r>
          </a:p>
        </p:txBody>
      </p:sp>
      <p:sp>
        <p:nvSpPr>
          <p:cNvPr id="34" name="TextBox 33"/>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35" name="TextBox 34"/>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04 • ARCHITECTURE</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Application architecture</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Separation of UI, shared application logic and model utilities.</a:t>
            </a:r>
          </a:p>
        </p:txBody>
      </p:sp>
      <p:sp>
        <p:nvSpPr>
          <p:cNvPr id="6" name="Rounded Rectangle 5"/>
          <p:cNvSpPr/>
          <p:nvPr/>
        </p:nvSpPr>
        <p:spPr>
          <a:xfrm>
            <a:off x="914400" y="1554480"/>
            <a:ext cx="10332720" cy="74980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554480"/>
            <a:ext cx="50292" cy="749808"/>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1719072"/>
            <a:ext cx="9966960" cy="320040"/>
          </a:xfrm>
          <a:prstGeom prst="rect">
            <a:avLst/>
          </a:prstGeom>
          <a:noFill/>
        </p:spPr>
        <p:txBody>
          <a:bodyPr wrap="square" anchor="t">
            <a:spAutoFit/>
          </a:bodyPr>
          <a:lstStyle/>
          <a:p>
            <a:pPr algn="l"/>
            <a:r>
              <a:rPr sz="1500" b="1">
                <a:solidFill>
                  <a:srgbClr val="F8FAFC"/>
                </a:solidFill>
                <a:latin typeface="Aptos"/>
              </a:rPr>
              <a:t>Streamlit UI</a:t>
            </a:r>
          </a:p>
        </p:txBody>
      </p:sp>
      <p:sp>
        <p:nvSpPr>
          <p:cNvPr id="9" name="TextBox 8"/>
          <p:cNvSpPr txBox="1"/>
          <p:nvPr/>
        </p:nvSpPr>
        <p:spPr>
          <a:xfrm>
            <a:off x="1115568" y="2121408"/>
            <a:ext cx="9948672" cy="64007"/>
          </a:xfrm>
          <a:prstGeom prst="rect">
            <a:avLst/>
          </a:prstGeom>
          <a:noFill/>
        </p:spPr>
        <p:txBody>
          <a:bodyPr wrap="square" anchor="t">
            <a:spAutoFit/>
          </a:bodyPr>
          <a:lstStyle/>
          <a:p>
            <a:pPr algn="l"/>
            <a:r>
              <a:rPr sz="1120" b="0">
                <a:solidFill>
                  <a:srgbClr val="B2C2D6"/>
                </a:solidFill>
                <a:latin typeface="Aptos"/>
              </a:rPr>
              <a:t>app.py • Register • Overview • Graphs • Tables</a:t>
            </a:r>
          </a:p>
        </p:txBody>
      </p:sp>
      <p:cxnSp>
        <p:nvCxnSpPr>
          <p:cNvPr id="10" name="Connector 9"/>
          <p:cNvCxnSpPr/>
          <p:nvPr/>
        </p:nvCxnSpPr>
        <p:spPr>
          <a:xfrm>
            <a:off x="6080760" y="2313432"/>
            <a:ext cx="0" cy="201168"/>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14400" y="2514600"/>
            <a:ext cx="10332720" cy="74980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2514600"/>
            <a:ext cx="50292" cy="749808"/>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2679192"/>
            <a:ext cx="9966960" cy="320040"/>
          </a:xfrm>
          <a:prstGeom prst="rect">
            <a:avLst/>
          </a:prstGeom>
          <a:noFill/>
        </p:spPr>
        <p:txBody>
          <a:bodyPr wrap="square" anchor="t">
            <a:spAutoFit/>
          </a:bodyPr>
          <a:lstStyle/>
          <a:p>
            <a:pPr algn="l"/>
            <a:r>
              <a:rPr sz="1500" b="1">
                <a:solidFill>
                  <a:srgbClr val="F8FAFC"/>
                </a:solidFill>
                <a:latin typeface="Aptos"/>
              </a:rPr>
              <a:t>Shared application layer</a:t>
            </a:r>
          </a:p>
        </p:txBody>
      </p:sp>
      <p:sp>
        <p:nvSpPr>
          <p:cNvPr id="14" name="TextBox 13"/>
          <p:cNvSpPr txBox="1"/>
          <p:nvPr/>
        </p:nvSpPr>
        <p:spPr>
          <a:xfrm>
            <a:off x="1115568" y="3081528"/>
            <a:ext cx="9948672" cy="64007"/>
          </a:xfrm>
          <a:prstGeom prst="rect">
            <a:avLst/>
          </a:prstGeom>
          <a:noFill/>
        </p:spPr>
        <p:txBody>
          <a:bodyPr wrap="square" anchor="t">
            <a:spAutoFit/>
          </a:bodyPr>
          <a:lstStyle/>
          <a:p>
            <a:pPr algn="l"/>
            <a:r>
              <a:rPr sz="1120" b="0">
                <a:solidFill>
                  <a:srgbClr val="B2C2D6"/>
                </a:solidFill>
                <a:latin typeface="Aptos"/>
              </a:rPr>
              <a:t>common_app.py • data loading • caching • scoring • auth • sidebar controls</a:t>
            </a:r>
          </a:p>
        </p:txBody>
      </p:sp>
      <p:cxnSp>
        <p:nvCxnSpPr>
          <p:cNvPr id="15" name="Connector 14"/>
          <p:cNvCxnSpPr/>
          <p:nvPr/>
        </p:nvCxnSpPr>
        <p:spPr>
          <a:xfrm>
            <a:off x="6080760" y="3273552"/>
            <a:ext cx="0" cy="201168"/>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14400" y="3474720"/>
            <a:ext cx="10332720" cy="74980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474720"/>
            <a:ext cx="50292" cy="749808"/>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15568" y="3639312"/>
            <a:ext cx="9966960" cy="320040"/>
          </a:xfrm>
          <a:prstGeom prst="rect">
            <a:avLst/>
          </a:prstGeom>
          <a:noFill/>
        </p:spPr>
        <p:txBody>
          <a:bodyPr wrap="square" anchor="t">
            <a:spAutoFit/>
          </a:bodyPr>
          <a:lstStyle/>
          <a:p>
            <a:pPr algn="l"/>
            <a:r>
              <a:rPr sz="1500" b="1">
                <a:solidFill>
                  <a:srgbClr val="F8FAFC"/>
                </a:solidFill>
                <a:latin typeface="Aptos"/>
              </a:rPr>
              <a:t>ML utility layer</a:t>
            </a:r>
          </a:p>
        </p:txBody>
      </p:sp>
      <p:sp>
        <p:nvSpPr>
          <p:cNvPr id="19" name="TextBox 18"/>
          <p:cNvSpPr txBox="1"/>
          <p:nvPr/>
        </p:nvSpPr>
        <p:spPr>
          <a:xfrm>
            <a:off x="1115568" y="4041648"/>
            <a:ext cx="9948672" cy="64007"/>
          </a:xfrm>
          <a:prstGeom prst="rect">
            <a:avLst/>
          </a:prstGeom>
          <a:noFill/>
        </p:spPr>
        <p:txBody>
          <a:bodyPr wrap="square" anchor="t">
            <a:spAutoFit/>
          </a:bodyPr>
          <a:lstStyle/>
          <a:p>
            <a:pPr algn="l"/>
            <a:r>
              <a:rPr sz="1120" b="0">
                <a:solidFill>
                  <a:srgbClr val="B2C2D6"/>
                </a:solidFill>
                <a:latin typeface="Aptos"/>
              </a:rPr>
              <a:t>model_utils.py • cleaning • feature engineering • model comparison • risk category • SHAP</a:t>
            </a:r>
          </a:p>
        </p:txBody>
      </p:sp>
      <p:cxnSp>
        <p:nvCxnSpPr>
          <p:cNvPr id="20" name="Connector 19"/>
          <p:cNvCxnSpPr/>
          <p:nvPr/>
        </p:nvCxnSpPr>
        <p:spPr>
          <a:xfrm>
            <a:off x="6080760" y="4233672"/>
            <a:ext cx="0" cy="201168"/>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14400" y="4434840"/>
            <a:ext cx="10332720" cy="74980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434840"/>
            <a:ext cx="50292" cy="749808"/>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5568" y="4599431"/>
            <a:ext cx="9966960" cy="320040"/>
          </a:xfrm>
          <a:prstGeom prst="rect">
            <a:avLst/>
          </a:prstGeom>
          <a:noFill/>
        </p:spPr>
        <p:txBody>
          <a:bodyPr wrap="square" anchor="t">
            <a:spAutoFit/>
          </a:bodyPr>
          <a:lstStyle/>
          <a:p>
            <a:pPr algn="l"/>
            <a:r>
              <a:rPr sz="1500" b="1">
                <a:solidFill>
                  <a:srgbClr val="F8FAFC"/>
                </a:solidFill>
                <a:latin typeface="Aptos"/>
              </a:rPr>
              <a:t>Data / services</a:t>
            </a:r>
          </a:p>
        </p:txBody>
      </p:sp>
      <p:sp>
        <p:nvSpPr>
          <p:cNvPr id="24" name="TextBox 23"/>
          <p:cNvSpPr txBox="1"/>
          <p:nvPr/>
        </p:nvSpPr>
        <p:spPr>
          <a:xfrm>
            <a:off x="1115568" y="5001768"/>
            <a:ext cx="9948672" cy="64007"/>
          </a:xfrm>
          <a:prstGeom prst="rect">
            <a:avLst/>
          </a:prstGeom>
          <a:noFill/>
        </p:spPr>
        <p:txBody>
          <a:bodyPr wrap="square" anchor="t">
            <a:spAutoFit/>
          </a:bodyPr>
          <a:lstStyle/>
          <a:p>
            <a:pPr algn="l"/>
            <a:r>
              <a:rPr sz="1120" b="0">
                <a:solidFill>
                  <a:srgbClr val="B2C2D6"/>
                </a:solidFill>
                <a:latin typeface="Aptos"/>
              </a:rPr>
              <a:t>insurance_claims_synthetic.csv • users.json • optional Gemini API</a:t>
            </a:r>
          </a:p>
        </p:txBody>
      </p:sp>
      <p:sp>
        <p:nvSpPr>
          <p:cNvPr id="25" name="TextBox 24"/>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26" name="TextBox 25"/>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05 • CODEBASE</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Project structure</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What each file is responsible for.</a:t>
            </a:r>
          </a:p>
        </p:txBody>
      </p:sp>
      <p:sp>
        <p:nvSpPr>
          <p:cNvPr id="6" name="Rounded Rectangle 5"/>
          <p:cNvSpPr/>
          <p:nvPr/>
        </p:nvSpPr>
        <p:spPr>
          <a:xfrm>
            <a:off x="594360" y="157276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72768"/>
            <a:ext cx="50292" cy="106070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737360"/>
            <a:ext cx="2971800" cy="320040"/>
          </a:xfrm>
          <a:prstGeom prst="rect">
            <a:avLst/>
          </a:prstGeom>
          <a:noFill/>
        </p:spPr>
        <p:txBody>
          <a:bodyPr wrap="square" anchor="t">
            <a:spAutoFit/>
          </a:bodyPr>
          <a:lstStyle/>
          <a:p>
            <a:pPr algn="l"/>
            <a:r>
              <a:rPr sz="1500" b="1">
                <a:solidFill>
                  <a:srgbClr val="F8FAFC"/>
                </a:solidFill>
                <a:latin typeface="Aptos"/>
              </a:rPr>
              <a:t>app.py</a:t>
            </a:r>
          </a:p>
        </p:txBody>
      </p:sp>
      <p:sp>
        <p:nvSpPr>
          <p:cNvPr id="9" name="TextBox 8"/>
          <p:cNvSpPr txBox="1"/>
          <p:nvPr/>
        </p:nvSpPr>
        <p:spPr>
          <a:xfrm>
            <a:off x="795528" y="2139696"/>
            <a:ext cx="2953512" cy="374903"/>
          </a:xfrm>
          <a:prstGeom prst="rect">
            <a:avLst/>
          </a:prstGeom>
          <a:noFill/>
        </p:spPr>
        <p:txBody>
          <a:bodyPr wrap="square" anchor="t">
            <a:spAutoFit/>
          </a:bodyPr>
          <a:lstStyle/>
          <a:p>
            <a:pPr algn="l"/>
            <a:r>
              <a:rPr sz="1120" b="0">
                <a:solidFill>
                  <a:srgbClr val="B2C2D6"/>
                </a:solidFill>
                <a:latin typeface="Aptos"/>
              </a:rPr>
              <a:t>Main authenticated dashboard / overview</a:t>
            </a:r>
          </a:p>
        </p:txBody>
      </p:sp>
      <p:sp>
        <p:nvSpPr>
          <p:cNvPr id="10" name="Rounded Rectangle 9"/>
          <p:cNvSpPr/>
          <p:nvPr/>
        </p:nvSpPr>
        <p:spPr>
          <a:xfrm>
            <a:off x="4389120" y="157276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50292" cy="1060704"/>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737360"/>
            <a:ext cx="2971800" cy="320040"/>
          </a:xfrm>
          <a:prstGeom prst="rect">
            <a:avLst/>
          </a:prstGeom>
          <a:noFill/>
        </p:spPr>
        <p:txBody>
          <a:bodyPr wrap="square" anchor="t">
            <a:spAutoFit/>
          </a:bodyPr>
          <a:lstStyle/>
          <a:p>
            <a:pPr algn="l"/>
            <a:r>
              <a:rPr sz="1500" b="1">
                <a:solidFill>
                  <a:srgbClr val="F8FAFC"/>
                </a:solidFill>
                <a:latin typeface="Aptos"/>
              </a:rPr>
              <a:t>1_Register.py</a:t>
            </a:r>
          </a:p>
        </p:txBody>
      </p:sp>
      <p:sp>
        <p:nvSpPr>
          <p:cNvPr id="13" name="TextBox 12"/>
          <p:cNvSpPr txBox="1"/>
          <p:nvPr/>
        </p:nvSpPr>
        <p:spPr>
          <a:xfrm>
            <a:off x="4590288" y="2139696"/>
            <a:ext cx="2953512" cy="374903"/>
          </a:xfrm>
          <a:prstGeom prst="rect">
            <a:avLst/>
          </a:prstGeom>
          <a:noFill/>
        </p:spPr>
        <p:txBody>
          <a:bodyPr wrap="square" anchor="t">
            <a:spAutoFit/>
          </a:bodyPr>
          <a:lstStyle/>
          <a:p>
            <a:pPr algn="l"/>
            <a:r>
              <a:rPr sz="1120" b="0">
                <a:solidFill>
                  <a:srgbClr val="B2C2D6"/>
                </a:solidFill>
                <a:latin typeface="Aptos"/>
              </a:rPr>
              <a:t>Registration UI and local account creation</a:t>
            </a:r>
          </a:p>
        </p:txBody>
      </p:sp>
      <p:sp>
        <p:nvSpPr>
          <p:cNvPr id="14" name="Rounded Rectangle 13"/>
          <p:cNvSpPr/>
          <p:nvPr/>
        </p:nvSpPr>
        <p:spPr>
          <a:xfrm>
            <a:off x="8183880" y="157276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80" y="1572768"/>
            <a:ext cx="50292" cy="1060704"/>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5048" y="1737360"/>
            <a:ext cx="2971800" cy="320040"/>
          </a:xfrm>
          <a:prstGeom prst="rect">
            <a:avLst/>
          </a:prstGeom>
          <a:noFill/>
        </p:spPr>
        <p:txBody>
          <a:bodyPr wrap="square" anchor="t">
            <a:spAutoFit/>
          </a:bodyPr>
          <a:lstStyle/>
          <a:p>
            <a:pPr algn="l"/>
            <a:r>
              <a:rPr sz="1500" b="1">
                <a:solidFill>
                  <a:srgbClr val="F8FAFC"/>
                </a:solidFill>
                <a:latin typeface="Aptos"/>
              </a:rPr>
              <a:t>2_Overview.py</a:t>
            </a:r>
          </a:p>
        </p:txBody>
      </p:sp>
      <p:sp>
        <p:nvSpPr>
          <p:cNvPr id="17" name="TextBox 16"/>
          <p:cNvSpPr txBox="1"/>
          <p:nvPr/>
        </p:nvSpPr>
        <p:spPr>
          <a:xfrm>
            <a:off x="8385048" y="2139696"/>
            <a:ext cx="2953512" cy="374903"/>
          </a:xfrm>
          <a:prstGeom prst="rect">
            <a:avLst/>
          </a:prstGeom>
          <a:noFill/>
        </p:spPr>
        <p:txBody>
          <a:bodyPr wrap="square" anchor="t">
            <a:spAutoFit/>
          </a:bodyPr>
          <a:lstStyle/>
          <a:p>
            <a:pPr algn="l"/>
            <a:r>
              <a:rPr sz="1120" b="0">
                <a:solidFill>
                  <a:srgbClr val="B2C2D6"/>
                </a:solidFill>
                <a:latin typeface="Aptos"/>
              </a:rPr>
              <a:t>Claim investigation, SHAP and Gemini explanation</a:t>
            </a:r>
          </a:p>
        </p:txBody>
      </p:sp>
      <p:sp>
        <p:nvSpPr>
          <p:cNvPr id="18" name="Rounded Rectangle 17"/>
          <p:cNvSpPr/>
          <p:nvPr/>
        </p:nvSpPr>
        <p:spPr>
          <a:xfrm>
            <a:off x="594360" y="299008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2990088"/>
            <a:ext cx="50292" cy="1060704"/>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154680"/>
            <a:ext cx="2971800" cy="320040"/>
          </a:xfrm>
          <a:prstGeom prst="rect">
            <a:avLst/>
          </a:prstGeom>
          <a:noFill/>
        </p:spPr>
        <p:txBody>
          <a:bodyPr wrap="square" anchor="t">
            <a:spAutoFit/>
          </a:bodyPr>
          <a:lstStyle/>
          <a:p>
            <a:pPr algn="l"/>
            <a:r>
              <a:rPr sz="1500" b="1">
                <a:solidFill>
                  <a:srgbClr val="F8FAFC"/>
                </a:solidFill>
                <a:latin typeface="Aptos"/>
              </a:rPr>
              <a:t>3_Graphs.py</a:t>
            </a:r>
          </a:p>
        </p:txBody>
      </p:sp>
      <p:sp>
        <p:nvSpPr>
          <p:cNvPr id="21" name="TextBox 20"/>
          <p:cNvSpPr txBox="1"/>
          <p:nvPr/>
        </p:nvSpPr>
        <p:spPr>
          <a:xfrm>
            <a:off x="795528" y="3557016"/>
            <a:ext cx="2953512" cy="374903"/>
          </a:xfrm>
          <a:prstGeom prst="rect">
            <a:avLst/>
          </a:prstGeom>
          <a:noFill/>
        </p:spPr>
        <p:txBody>
          <a:bodyPr wrap="square" anchor="t">
            <a:spAutoFit/>
          </a:bodyPr>
          <a:lstStyle/>
          <a:p>
            <a:pPr algn="l"/>
            <a:r>
              <a:rPr sz="1120" b="0">
                <a:solidFill>
                  <a:srgbClr val="B2C2D6"/>
                </a:solidFill>
                <a:latin typeface="Aptos"/>
              </a:rPr>
              <a:t>Dedicated EDA and risk visualizations</a:t>
            </a:r>
          </a:p>
        </p:txBody>
      </p:sp>
      <p:sp>
        <p:nvSpPr>
          <p:cNvPr id="22" name="Rounded Rectangle 21"/>
          <p:cNvSpPr/>
          <p:nvPr/>
        </p:nvSpPr>
        <p:spPr>
          <a:xfrm>
            <a:off x="4389120" y="299008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2990088"/>
            <a:ext cx="50292" cy="1060704"/>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0288" y="3154680"/>
            <a:ext cx="2971800" cy="320040"/>
          </a:xfrm>
          <a:prstGeom prst="rect">
            <a:avLst/>
          </a:prstGeom>
          <a:noFill/>
        </p:spPr>
        <p:txBody>
          <a:bodyPr wrap="square" anchor="t">
            <a:spAutoFit/>
          </a:bodyPr>
          <a:lstStyle/>
          <a:p>
            <a:pPr algn="l"/>
            <a:r>
              <a:rPr sz="1500" b="1">
                <a:solidFill>
                  <a:srgbClr val="F8FAFC"/>
                </a:solidFill>
                <a:latin typeface="Aptos"/>
              </a:rPr>
              <a:t>4_Tables.py</a:t>
            </a:r>
          </a:p>
        </p:txBody>
      </p:sp>
      <p:sp>
        <p:nvSpPr>
          <p:cNvPr id="25" name="TextBox 24"/>
          <p:cNvSpPr txBox="1"/>
          <p:nvPr/>
        </p:nvSpPr>
        <p:spPr>
          <a:xfrm>
            <a:off x="4590288" y="3557016"/>
            <a:ext cx="2953512" cy="374903"/>
          </a:xfrm>
          <a:prstGeom prst="rect">
            <a:avLst/>
          </a:prstGeom>
          <a:noFill/>
        </p:spPr>
        <p:txBody>
          <a:bodyPr wrap="square" anchor="t">
            <a:spAutoFit/>
          </a:bodyPr>
          <a:lstStyle/>
          <a:p>
            <a:pPr algn="l"/>
            <a:r>
              <a:rPr sz="1120" b="0">
                <a:solidFill>
                  <a:srgbClr val="B2C2D6"/>
                </a:solidFill>
                <a:latin typeface="Aptos"/>
              </a:rPr>
              <a:t>Data quality, model results, segments and scored claims</a:t>
            </a:r>
          </a:p>
        </p:txBody>
      </p:sp>
      <p:sp>
        <p:nvSpPr>
          <p:cNvPr id="26" name="Rounded Rectangle 25"/>
          <p:cNvSpPr/>
          <p:nvPr/>
        </p:nvSpPr>
        <p:spPr>
          <a:xfrm>
            <a:off x="8183880" y="299008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83880" y="2990088"/>
            <a:ext cx="50292" cy="106070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85048" y="3154680"/>
            <a:ext cx="2971800" cy="320040"/>
          </a:xfrm>
          <a:prstGeom prst="rect">
            <a:avLst/>
          </a:prstGeom>
          <a:noFill/>
        </p:spPr>
        <p:txBody>
          <a:bodyPr wrap="square" anchor="t">
            <a:spAutoFit/>
          </a:bodyPr>
          <a:lstStyle/>
          <a:p>
            <a:pPr algn="l"/>
            <a:r>
              <a:rPr sz="1500" b="1">
                <a:solidFill>
                  <a:srgbClr val="F8FAFC"/>
                </a:solidFill>
                <a:latin typeface="Aptos"/>
              </a:rPr>
              <a:t>common_app.py</a:t>
            </a:r>
          </a:p>
        </p:txBody>
      </p:sp>
      <p:sp>
        <p:nvSpPr>
          <p:cNvPr id="29" name="TextBox 28"/>
          <p:cNvSpPr txBox="1"/>
          <p:nvPr/>
        </p:nvSpPr>
        <p:spPr>
          <a:xfrm>
            <a:off x="8385048" y="3557016"/>
            <a:ext cx="2953512" cy="374903"/>
          </a:xfrm>
          <a:prstGeom prst="rect">
            <a:avLst/>
          </a:prstGeom>
          <a:noFill/>
        </p:spPr>
        <p:txBody>
          <a:bodyPr wrap="square" anchor="t">
            <a:spAutoFit/>
          </a:bodyPr>
          <a:lstStyle/>
          <a:p>
            <a:pPr algn="l"/>
            <a:r>
              <a:rPr sz="1120" b="0">
                <a:solidFill>
                  <a:srgbClr val="B2C2D6"/>
                </a:solidFill>
                <a:latin typeface="Aptos"/>
              </a:rPr>
              <a:t>Shared data, scoring, auth, UI and caching helpers</a:t>
            </a:r>
          </a:p>
        </p:txBody>
      </p:sp>
      <p:sp>
        <p:nvSpPr>
          <p:cNvPr id="30" name="Rounded Rectangle 29"/>
          <p:cNvSpPr/>
          <p:nvPr/>
        </p:nvSpPr>
        <p:spPr>
          <a:xfrm>
            <a:off x="594360" y="440740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4407408"/>
            <a:ext cx="50292" cy="1060704"/>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4572000"/>
            <a:ext cx="2971800" cy="320040"/>
          </a:xfrm>
          <a:prstGeom prst="rect">
            <a:avLst/>
          </a:prstGeom>
          <a:noFill/>
        </p:spPr>
        <p:txBody>
          <a:bodyPr wrap="square" anchor="t">
            <a:spAutoFit/>
          </a:bodyPr>
          <a:lstStyle/>
          <a:p>
            <a:pPr algn="l"/>
            <a:r>
              <a:rPr sz="1500" b="1">
                <a:solidFill>
                  <a:srgbClr val="F8FAFC"/>
                </a:solidFill>
                <a:latin typeface="Aptos"/>
              </a:rPr>
              <a:t>model_utils.py</a:t>
            </a:r>
          </a:p>
        </p:txBody>
      </p:sp>
      <p:sp>
        <p:nvSpPr>
          <p:cNvPr id="33" name="TextBox 32"/>
          <p:cNvSpPr txBox="1"/>
          <p:nvPr/>
        </p:nvSpPr>
        <p:spPr>
          <a:xfrm>
            <a:off x="795528" y="4974336"/>
            <a:ext cx="2953512" cy="374903"/>
          </a:xfrm>
          <a:prstGeom prst="rect">
            <a:avLst/>
          </a:prstGeom>
          <a:noFill/>
        </p:spPr>
        <p:txBody>
          <a:bodyPr wrap="square" anchor="t">
            <a:spAutoFit/>
          </a:bodyPr>
          <a:lstStyle/>
          <a:p>
            <a:pPr algn="l"/>
            <a:r>
              <a:rPr sz="1120" b="0">
                <a:solidFill>
                  <a:srgbClr val="B2C2D6"/>
                </a:solidFill>
                <a:latin typeface="Aptos"/>
              </a:rPr>
              <a:t>Cleaning, features, training, risk categories, SHAP</a:t>
            </a:r>
          </a:p>
        </p:txBody>
      </p:sp>
      <p:sp>
        <p:nvSpPr>
          <p:cNvPr id="34" name="Rounded Rectangle 33"/>
          <p:cNvSpPr/>
          <p:nvPr/>
        </p:nvSpPr>
        <p:spPr>
          <a:xfrm>
            <a:off x="4389120" y="440740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89120" y="4407408"/>
            <a:ext cx="50292" cy="1060704"/>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0288" y="4572000"/>
            <a:ext cx="2971800" cy="320040"/>
          </a:xfrm>
          <a:prstGeom prst="rect">
            <a:avLst/>
          </a:prstGeom>
          <a:noFill/>
        </p:spPr>
        <p:txBody>
          <a:bodyPr wrap="square" anchor="t">
            <a:spAutoFit/>
          </a:bodyPr>
          <a:lstStyle/>
          <a:p>
            <a:pPr algn="l"/>
            <a:r>
              <a:rPr sz="1500" b="1">
                <a:solidFill>
                  <a:srgbClr val="F8FAFC"/>
                </a:solidFill>
                <a:latin typeface="Aptos"/>
              </a:rPr>
              <a:t>insurance_claims_synthetic.csv</a:t>
            </a:r>
          </a:p>
        </p:txBody>
      </p:sp>
      <p:sp>
        <p:nvSpPr>
          <p:cNvPr id="37" name="TextBox 36"/>
          <p:cNvSpPr txBox="1"/>
          <p:nvPr/>
        </p:nvSpPr>
        <p:spPr>
          <a:xfrm>
            <a:off x="4590288" y="4974336"/>
            <a:ext cx="2953512" cy="374903"/>
          </a:xfrm>
          <a:prstGeom prst="rect">
            <a:avLst/>
          </a:prstGeom>
          <a:noFill/>
        </p:spPr>
        <p:txBody>
          <a:bodyPr wrap="square" anchor="t">
            <a:spAutoFit/>
          </a:bodyPr>
          <a:lstStyle/>
          <a:p>
            <a:pPr algn="l"/>
            <a:r>
              <a:rPr sz="1120" b="0">
                <a:solidFill>
                  <a:srgbClr val="B2C2D6"/>
                </a:solidFill>
                <a:latin typeface="Aptos"/>
              </a:rPr>
              <a:t>Default project dataset</a:t>
            </a:r>
          </a:p>
        </p:txBody>
      </p:sp>
      <p:sp>
        <p:nvSpPr>
          <p:cNvPr id="38" name="Rounded Rectangle 37"/>
          <p:cNvSpPr/>
          <p:nvPr/>
        </p:nvSpPr>
        <p:spPr>
          <a:xfrm>
            <a:off x="8183880" y="4407408"/>
            <a:ext cx="3337560" cy="1060704"/>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83880" y="4407408"/>
            <a:ext cx="50292" cy="1060704"/>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85048" y="4572000"/>
            <a:ext cx="2971800" cy="320040"/>
          </a:xfrm>
          <a:prstGeom prst="rect">
            <a:avLst/>
          </a:prstGeom>
          <a:noFill/>
        </p:spPr>
        <p:txBody>
          <a:bodyPr wrap="square" anchor="t">
            <a:spAutoFit/>
          </a:bodyPr>
          <a:lstStyle/>
          <a:p>
            <a:pPr algn="l"/>
            <a:r>
              <a:rPr sz="1500" b="1">
                <a:solidFill>
                  <a:srgbClr val="F8FAFC"/>
                </a:solidFill>
                <a:latin typeface="Aptos"/>
              </a:rPr>
              <a:t>users.json</a:t>
            </a:r>
          </a:p>
        </p:txBody>
      </p:sp>
      <p:sp>
        <p:nvSpPr>
          <p:cNvPr id="41" name="TextBox 40"/>
          <p:cNvSpPr txBox="1"/>
          <p:nvPr/>
        </p:nvSpPr>
        <p:spPr>
          <a:xfrm>
            <a:off x="8385048" y="4974336"/>
            <a:ext cx="2953512" cy="374903"/>
          </a:xfrm>
          <a:prstGeom prst="rect">
            <a:avLst/>
          </a:prstGeom>
          <a:noFill/>
        </p:spPr>
        <p:txBody>
          <a:bodyPr wrap="square" anchor="t">
            <a:spAutoFit/>
          </a:bodyPr>
          <a:lstStyle/>
          <a:p>
            <a:pPr algn="l"/>
            <a:r>
              <a:rPr sz="1120" b="0">
                <a:solidFill>
                  <a:srgbClr val="B2C2D6"/>
                </a:solidFill>
                <a:latin typeface="Aptos"/>
              </a:rPr>
              <a:t>Local prototype account store</a:t>
            </a:r>
          </a:p>
        </p:txBody>
      </p:sp>
      <p:sp>
        <p:nvSpPr>
          <p:cNvPr id="42" name="TextBox 41"/>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43" name="TextBox 42"/>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06 • SECURITY</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Authentication &amp; access control</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prototype includes login, registration, password hashing and session-based access.</a:t>
            </a:r>
          </a:p>
        </p:txBody>
      </p:sp>
      <p:sp>
        <p:nvSpPr>
          <p:cNvPr id="6" name="Rounded Rectangle 5"/>
          <p:cNvSpPr/>
          <p:nvPr/>
        </p:nvSpPr>
        <p:spPr>
          <a:xfrm>
            <a:off x="640080" y="1554480"/>
            <a:ext cx="3429000" cy="42976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54480"/>
            <a:ext cx="50292" cy="429768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19072"/>
            <a:ext cx="3063240" cy="320040"/>
          </a:xfrm>
          <a:prstGeom prst="rect">
            <a:avLst/>
          </a:prstGeom>
          <a:noFill/>
        </p:spPr>
        <p:txBody>
          <a:bodyPr wrap="square" anchor="t">
            <a:spAutoFit/>
          </a:bodyPr>
          <a:lstStyle/>
          <a:p>
            <a:pPr algn="l"/>
            <a:r>
              <a:rPr sz="1500" b="1">
                <a:solidFill>
                  <a:srgbClr val="F8FAFC"/>
                </a:solidFill>
                <a:latin typeface="Aptos"/>
              </a:rPr>
              <a:t>Registration</a:t>
            </a:r>
          </a:p>
        </p:txBody>
      </p:sp>
      <p:sp>
        <p:nvSpPr>
          <p:cNvPr id="9" name="TextBox 8"/>
          <p:cNvSpPr txBox="1"/>
          <p:nvPr/>
        </p:nvSpPr>
        <p:spPr>
          <a:xfrm>
            <a:off x="841247" y="2121408"/>
            <a:ext cx="3044952" cy="3611880"/>
          </a:xfrm>
          <a:prstGeom prst="rect">
            <a:avLst/>
          </a:prstGeom>
          <a:noFill/>
        </p:spPr>
        <p:txBody>
          <a:bodyPr wrap="square" anchor="t">
            <a:spAutoFit/>
          </a:bodyPr>
          <a:lstStyle/>
          <a:p>
            <a:pPr algn="l"/>
            <a:r>
              <a:rPr sz="1120" b="0">
                <a:solidFill>
                  <a:srgbClr val="B2C2D6"/>
                </a:solidFill>
                <a:latin typeface="Aptos"/>
              </a:rPr>
              <a:t>Username + email + password
Validation:
• required fields
• username length ≥ 3
• password length ≥ 6
• duplicate username/email checks
Credentials are stored with a random salt and PBKDF2-HMAC SHA-256.</a:t>
            </a:r>
          </a:p>
        </p:txBody>
      </p:sp>
      <p:sp>
        <p:nvSpPr>
          <p:cNvPr id="10" name="Rounded Rectangle 9"/>
          <p:cNvSpPr/>
          <p:nvPr/>
        </p:nvSpPr>
        <p:spPr>
          <a:xfrm>
            <a:off x="4370832" y="1554480"/>
            <a:ext cx="3429000" cy="42976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554480"/>
            <a:ext cx="50292" cy="429768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19072"/>
            <a:ext cx="3063240" cy="320040"/>
          </a:xfrm>
          <a:prstGeom prst="rect">
            <a:avLst/>
          </a:prstGeom>
          <a:noFill/>
        </p:spPr>
        <p:txBody>
          <a:bodyPr wrap="square" anchor="t">
            <a:spAutoFit/>
          </a:bodyPr>
          <a:lstStyle/>
          <a:p>
            <a:pPr algn="l"/>
            <a:r>
              <a:rPr sz="1500" b="1">
                <a:solidFill>
                  <a:srgbClr val="F8FAFC"/>
                </a:solidFill>
                <a:latin typeface="Aptos"/>
              </a:rPr>
              <a:t>Login</a:t>
            </a:r>
          </a:p>
        </p:txBody>
      </p:sp>
      <p:sp>
        <p:nvSpPr>
          <p:cNvPr id="13" name="TextBox 12"/>
          <p:cNvSpPr txBox="1"/>
          <p:nvPr/>
        </p:nvSpPr>
        <p:spPr>
          <a:xfrm>
            <a:off x="4572000" y="2121408"/>
            <a:ext cx="3044952" cy="3611880"/>
          </a:xfrm>
          <a:prstGeom prst="rect">
            <a:avLst/>
          </a:prstGeom>
          <a:noFill/>
        </p:spPr>
        <p:txBody>
          <a:bodyPr wrap="square" anchor="t">
            <a:spAutoFit/>
          </a:bodyPr>
          <a:lstStyle/>
          <a:p>
            <a:pPr algn="l"/>
            <a:r>
              <a:rPr sz="1120" b="0">
                <a:solidFill>
                  <a:srgbClr val="B2C2D6"/>
                </a:solidFill>
                <a:latin typeface="Aptos"/>
              </a:rPr>
              <a:t>Username is normalized with strip/lowercase.
Stored salt is reused to derive the password hash.
secrets.compare_digest() compares the derived hash to the stored hash.</a:t>
            </a:r>
          </a:p>
        </p:txBody>
      </p:sp>
      <p:sp>
        <p:nvSpPr>
          <p:cNvPr id="14" name="Rounded Rectangle 13"/>
          <p:cNvSpPr/>
          <p:nvPr/>
        </p:nvSpPr>
        <p:spPr>
          <a:xfrm>
            <a:off x="8101583" y="1554480"/>
            <a:ext cx="3429000" cy="42976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1583" y="1554480"/>
            <a:ext cx="50292" cy="429768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1719072"/>
            <a:ext cx="3063240" cy="320040"/>
          </a:xfrm>
          <a:prstGeom prst="rect">
            <a:avLst/>
          </a:prstGeom>
          <a:noFill/>
        </p:spPr>
        <p:txBody>
          <a:bodyPr wrap="square" anchor="t">
            <a:spAutoFit/>
          </a:bodyPr>
          <a:lstStyle/>
          <a:p>
            <a:pPr algn="l"/>
            <a:r>
              <a:rPr sz="1500" b="1">
                <a:solidFill>
                  <a:srgbClr val="F8FAFC"/>
                </a:solidFill>
                <a:latin typeface="Aptos"/>
              </a:rPr>
              <a:t>Protected pages</a:t>
            </a:r>
          </a:p>
        </p:txBody>
      </p:sp>
      <p:sp>
        <p:nvSpPr>
          <p:cNvPr id="17" name="TextBox 16"/>
          <p:cNvSpPr txBox="1"/>
          <p:nvPr/>
        </p:nvSpPr>
        <p:spPr>
          <a:xfrm>
            <a:off x="8302752" y="2121408"/>
            <a:ext cx="3044952" cy="3611880"/>
          </a:xfrm>
          <a:prstGeom prst="rect">
            <a:avLst/>
          </a:prstGeom>
          <a:noFill/>
        </p:spPr>
        <p:txBody>
          <a:bodyPr wrap="square" anchor="t">
            <a:spAutoFit/>
          </a:bodyPr>
          <a:lstStyle/>
          <a:p>
            <a:pPr algn="l"/>
            <a:r>
              <a:rPr sz="1120" b="0">
                <a:solidFill>
                  <a:srgbClr val="B2C2D6"/>
                </a:solidFill>
                <a:latin typeface="Aptos"/>
              </a:rPr>
              <a:t>Session state records authentication.
require_auth() blocks dashboard pages when the user is not signed in.
Logout clears authentication state and returns to app.py.</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07 • DATA PIPELINE</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Data ingestion &amp; caching</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system supports both the included dataset and a new uploaded CSV.</a:t>
            </a:r>
          </a:p>
        </p:txBody>
      </p:sp>
      <p:sp>
        <p:nvSpPr>
          <p:cNvPr id="6" name="Rounded Rectangle 5"/>
          <p:cNvSpPr/>
          <p:nvPr/>
        </p:nvSpPr>
        <p:spPr>
          <a:xfrm>
            <a:off x="640080" y="1554480"/>
            <a:ext cx="5486400" cy="3566160"/>
          </a:xfrm>
          <a:prstGeom prst="roundRect">
            <a:avLst/>
          </a:prstGeom>
          <a:solidFill>
            <a:srgbClr val="030A13"/>
          </a:solidFill>
          <a:ln>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91639"/>
            <a:ext cx="5120640" cy="3291840"/>
          </a:xfrm>
          <a:prstGeom prst="rect">
            <a:avLst/>
          </a:prstGeom>
          <a:noFill/>
        </p:spPr>
        <p:txBody>
          <a:bodyPr wrap="square" anchor="t">
            <a:spAutoFit/>
          </a:bodyPr>
          <a:lstStyle/>
          <a:p>
            <a:pPr algn="l"/>
            <a:r>
              <a:rPr sz="1000" b="0">
                <a:solidFill>
                  <a:srgbClr val="BCDAF0"/>
                </a:solidFill>
                <a:latin typeface="Cascadia Mono"/>
              </a:rPr>
              <a:t>uploaded = st.file_uploader(
    "Upload an insurance claims CSV",
    type=["csv"]
)
if uploaded is None:
    raw = load_default()
    csv_bytes = open(
        "insurance_claims_synthetic.csv", "rb"
    ).read()
else:
    raw = pd.read_csv(uploaded)
    csv_bytes = uploaded.getvalue()</a:t>
            </a:r>
          </a:p>
        </p:txBody>
      </p:sp>
      <p:sp>
        <p:nvSpPr>
          <p:cNvPr id="8" name="Rounded Rectangle 7"/>
          <p:cNvSpPr/>
          <p:nvPr/>
        </p:nvSpPr>
        <p:spPr>
          <a:xfrm>
            <a:off x="6446520" y="1554480"/>
            <a:ext cx="5074920" cy="35661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554480"/>
            <a:ext cx="50292" cy="356616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47688" y="1719072"/>
            <a:ext cx="4709159" cy="320040"/>
          </a:xfrm>
          <a:prstGeom prst="rect">
            <a:avLst/>
          </a:prstGeom>
          <a:noFill/>
        </p:spPr>
        <p:txBody>
          <a:bodyPr wrap="square" anchor="t">
            <a:spAutoFit/>
          </a:bodyPr>
          <a:lstStyle/>
          <a:p>
            <a:pPr algn="l"/>
            <a:r>
              <a:rPr sz="1500" b="1">
                <a:solidFill>
                  <a:srgbClr val="F8FAFC"/>
                </a:solidFill>
                <a:latin typeface="Aptos"/>
              </a:rPr>
              <a:t>Why caching matters</a:t>
            </a:r>
          </a:p>
        </p:txBody>
      </p:sp>
      <p:sp>
        <p:nvSpPr>
          <p:cNvPr id="11" name="TextBox 10"/>
          <p:cNvSpPr txBox="1"/>
          <p:nvPr/>
        </p:nvSpPr>
        <p:spPr>
          <a:xfrm>
            <a:off x="6647688" y="2121408"/>
            <a:ext cx="4690872" cy="2880360"/>
          </a:xfrm>
          <a:prstGeom prst="rect">
            <a:avLst/>
          </a:prstGeom>
          <a:noFill/>
        </p:spPr>
        <p:txBody>
          <a:bodyPr wrap="square" anchor="t">
            <a:spAutoFit/>
          </a:bodyPr>
          <a:lstStyle/>
          <a:p>
            <a:pPr algn="l"/>
            <a:r>
              <a:rPr sz="1120" b="0">
                <a:solidFill>
                  <a:srgbClr val="B2C2D6"/>
                </a:solidFill>
                <a:latin typeface="Aptos"/>
              </a:rPr>
              <a:t>load_default() uses st.cache_data.
train_cached() uses st.cache_resource and receives a hashable representation of the CSV bytes.
This avoids repeating expensive data processing and model training on every Streamlit rerun when the underlying input has not changed.</a:t>
            </a:r>
          </a:p>
        </p:txBody>
      </p:sp>
      <p:sp>
        <p:nvSpPr>
          <p:cNvPr id="12" name="TextBox 11"/>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3" name="TextBox 12"/>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08 • DATA QUALITY</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Data cleaning &amp; leakage prevention</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Cleaning is performed before feature engineering and model training.</a:t>
            </a:r>
          </a:p>
        </p:txBody>
      </p:sp>
      <p:sp>
        <p:nvSpPr>
          <p:cNvPr id="6" name="Rounded Rectangle 5"/>
          <p:cNvSpPr/>
          <p:nvPr/>
        </p:nvSpPr>
        <p:spPr>
          <a:xfrm>
            <a:off x="640080" y="1600200"/>
            <a:ext cx="3429000" cy="416052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50292" cy="416052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64792"/>
            <a:ext cx="3063240" cy="320040"/>
          </a:xfrm>
          <a:prstGeom prst="rect">
            <a:avLst/>
          </a:prstGeom>
          <a:noFill/>
        </p:spPr>
        <p:txBody>
          <a:bodyPr wrap="square" anchor="t">
            <a:spAutoFit/>
          </a:bodyPr>
          <a:lstStyle/>
          <a:p>
            <a:pPr algn="l"/>
            <a:r>
              <a:rPr sz="1500" b="1">
                <a:solidFill>
                  <a:srgbClr val="F8FAFC"/>
                </a:solidFill>
                <a:latin typeface="Aptos"/>
              </a:rPr>
              <a:t>Cleaning</a:t>
            </a:r>
          </a:p>
        </p:txBody>
      </p:sp>
      <p:sp>
        <p:nvSpPr>
          <p:cNvPr id="9" name="TextBox 8"/>
          <p:cNvSpPr txBox="1"/>
          <p:nvPr/>
        </p:nvSpPr>
        <p:spPr>
          <a:xfrm>
            <a:off x="841247" y="2167128"/>
            <a:ext cx="3044952" cy="3474720"/>
          </a:xfrm>
          <a:prstGeom prst="rect">
            <a:avLst/>
          </a:prstGeom>
          <a:noFill/>
        </p:spPr>
        <p:txBody>
          <a:bodyPr wrap="square" anchor="t">
            <a:spAutoFit/>
          </a:bodyPr>
          <a:lstStyle/>
          <a:p>
            <a:pPr algn="l"/>
            <a:r>
              <a:rPr sz="1120" b="0">
                <a:solidFill>
                  <a:srgbClr val="B2C2D6"/>
                </a:solidFill>
                <a:latin typeface="Aptos"/>
              </a:rPr>
              <a:t>clean_data(df) returns:
• cleaned dataframe
• quality information
The UI exposes missing values and duplicate rows removed.
Invalid numeric values are converted to missing and handled within the modeling pipeline.</a:t>
            </a:r>
          </a:p>
        </p:txBody>
      </p:sp>
      <p:sp>
        <p:nvSpPr>
          <p:cNvPr id="10" name="Rounded Rectangle 9"/>
          <p:cNvSpPr/>
          <p:nvPr/>
        </p:nvSpPr>
        <p:spPr>
          <a:xfrm>
            <a:off x="4389120" y="1600200"/>
            <a:ext cx="3429000" cy="416052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600200"/>
            <a:ext cx="50292" cy="416052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764792"/>
            <a:ext cx="3063240" cy="320040"/>
          </a:xfrm>
          <a:prstGeom prst="rect">
            <a:avLst/>
          </a:prstGeom>
          <a:noFill/>
        </p:spPr>
        <p:txBody>
          <a:bodyPr wrap="square" anchor="t">
            <a:spAutoFit/>
          </a:bodyPr>
          <a:lstStyle/>
          <a:p>
            <a:pPr algn="l"/>
            <a:r>
              <a:rPr sz="1500" b="1">
                <a:solidFill>
                  <a:srgbClr val="F8FAFC"/>
                </a:solidFill>
                <a:latin typeface="Aptos"/>
              </a:rPr>
              <a:t>Leakage control</a:t>
            </a:r>
          </a:p>
        </p:txBody>
      </p:sp>
      <p:sp>
        <p:nvSpPr>
          <p:cNvPr id="13" name="TextBox 12"/>
          <p:cNvSpPr txBox="1"/>
          <p:nvPr/>
        </p:nvSpPr>
        <p:spPr>
          <a:xfrm>
            <a:off x="4590288" y="2167128"/>
            <a:ext cx="3044952" cy="3474720"/>
          </a:xfrm>
          <a:prstGeom prst="rect">
            <a:avLst/>
          </a:prstGeom>
          <a:noFill/>
        </p:spPr>
        <p:txBody>
          <a:bodyPr wrap="square" anchor="t">
            <a:spAutoFit/>
          </a:bodyPr>
          <a:lstStyle/>
          <a:p>
            <a:pPr algn="l"/>
            <a:r>
              <a:rPr sz="1120" b="0">
                <a:solidFill>
                  <a:srgbClr val="B2C2D6"/>
                </a:solidFill>
                <a:latin typeface="Aptos"/>
              </a:rPr>
              <a:t>Claim ID is excluded.
Free-text customer description is excluded.
The target label is never used as an input feature.
This prevents the model from learning directly from identifiers, text or the answer it is supposed to predict.</a:t>
            </a:r>
          </a:p>
        </p:txBody>
      </p:sp>
      <p:sp>
        <p:nvSpPr>
          <p:cNvPr id="14" name="Rounded Rectangle 13"/>
          <p:cNvSpPr/>
          <p:nvPr/>
        </p:nvSpPr>
        <p:spPr>
          <a:xfrm>
            <a:off x="8138160" y="1600200"/>
            <a:ext cx="3429000" cy="416052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600200"/>
            <a:ext cx="50292" cy="416052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764792"/>
            <a:ext cx="3063240" cy="320040"/>
          </a:xfrm>
          <a:prstGeom prst="rect">
            <a:avLst/>
          </a:prstGeom>
          <a:noFill/>
        </p:spPr>
        <p:txBody>
          <a:bodyPr wrap="square" anchor="t">
            <a:spAutoFit/>
          </a:bodyPr>
          <a:lstStyle/>
          <a:p>
            <a:pPr algn="l"/>
            <a:r>
              <a:rPr sz="1500" b="1">
                <a:solidFill>
                  <a:srgbClr val="F8FAFC"/>
                </a:solidFill>
                <a:latin typeface="Aptos"/>
              </a:rPr>
              <a:t>Quality visibility</a:t>
            </a:r>
          </a:p>
        </p:txBody>
      </p:sp>
      <p:sp>
        <p:nvSpPr>
          <p:cNvPr id="17" name="TextBox 16"/>
          <p:cNvSpPr txBox="1"/>
          <p:nvPr/>
        </p:nvSpPr>
        <p:spPr>
          <a:xfrm>
            <a:off x="8339328" y="2167128"/>
            <a:ext cx="3044952" cy="3474720"/>
          </a:xfrm>
          <a:prstGeom prst="rect">
            <a:avLst/>
          </a:prstGeom>
          <a:noFill/>
        </p:spPr>
        <p:txBody>
          <a:bodyPr wrap="square" anchor="t">
            <a:spAutoFit/>
          </a:bodyPr>
          <a:lstStyle/>
          <a:p>
            <a:pPr algn="l"/>
            <a:r>
              <a:rPr sz="1120" b="0">
                <a:solidFill>
                  <a:srgbClr val="B2C2D6"/>
                </a:solidFill>
                <a:latin typeface="Aptos"/>
              </a:rPr>
              <a:t>The Tables page exposes a missing-value table and duplicate count.
This makes the preprocessing stage inspectable instead of hiding it inside the model.</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09 • FEATURES</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Feature engineering</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Convert raw claim fields into signals that are easier for models to learn from.</a:t>
            </a:r>
          </a:p>
        </p:txBody>
      </p:sp>
      <p:sp>
        <p:nvSpPr>
          <p:cNvPr id="6" name="Rounded Rectangle 5"/>
          <p:cNvSpPr/>
          <p:nvPr/>
        </p:nvSpPr>
        <p:spPr>
          <a:xfrm>
            <a:off x="640080" y="1600200"/>
            <a:ext cx="3337560" cy="157276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00200"/>
            <a:ext cx="50292" cy="1572768"/>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64792"/>
            <a:ext cx="2971800" cy="320040"/>
          </a:xfrm>
          <a:prstGeom prst="rect">
            <a:avLst/>
          </a:prstGeom>
          <a:noFill/>
        </p:spPr>
        <p:txBody>
          <a:bodyPr wrap="square" anchor="t">
            <a:spAutoFit/>
          </a:bodyPr>
          <a:lstStyle/>
          <a:p>
            <a:pPr algn="l"/>
            <a:r>
              <a:rPr sz="1500" b="1">
                <a:solidFill>
                  <a:srgbClr val="F8FAFC"/>
                </a:solidFill>
                <a:latin typeface="Aptos"/>
              </a:rPr>
              <a:t>Days to submit</a:t>
            </a:r>
          </a:p>
        </p:txBody>
      </p:sp>
      <p:sp>
        <p:nvSpPr>
          <p:cNvPr id="9" name="TextBox 8"/>
          <p:cNvSpPr txBox="1"/>
          <p:nvPr/>
        </p:nvSpPr>
        <p:spPr>
          <a:xfrm>
            <a:off x="841247" y="2167128"/>
            <a:ext cx="2953512" cy="886968"/>
          </a:xfrm>
          <a:prstGeom prst="rect">
            <a:avLst/>
          </a:prstGeom>
          <a:noFill/>
        </p:spPr>
        <p:txBody>
          <a:bodyPr wrap="square" anchor="t">
            <a:spAutoFit/>
          </a:bodyPr>
          <a:lstStyle/>
          <a:p>
            <a:pPr algn="l"/>
            <a:r>
              <a:rPr sz="1120" b="0">
                <a:solidFill>
                  <a:srgbClr val="B2C2D6"/>
                </a:solidFill>
                <a:latin typeface="Aptos"/>
              </a:rPr>
              <a:t>Delay between incident and submission</a:t>
            </a:r>
          </a:p>
        </p:txBody>
      </p:sp>
      <p:sp>
        <p:nvSpPr>
          <p:cNvPr id="10" name="Rounded Rectangle 9"/>
          <p:cNvSpPr/>
          <p:nvPr/>
        </p:nvSpPr>
        <p:spPr>
          <a:xfrm>
            <a:off x="4434840" y="1600200"/>
            <a:ext cx="3337560" cy="157276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600200"/>
            <a:ext cx="50292" cy="1572768"/>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8" y="1764792"/>
            <a:ext cx="2971800" cy="320040"/>
          </a:xfrm>
          <a:prstGeom prst="rect">
            <a:avLst/>
          </a:prstGeom>
          <a:noFill/>
        </p:spPr>
        <p:txBody>
          <a:bodyPr wrap="square" anchor="t">
            <a:spAutoFit/>
          </a:bodyPr>
          <a:lstStyle/>
          <a:p>
            <a:pPr algn="l"/>
            <a:r>
              <a:rPr sz="1500" b="1">
                <a:solidFill>
                  <a:srgbClr val="F8FAFC"/>
                </a:solidFill>
                <a:latin typeface="Aptos"/>
              </a:rPr>
              <a:t>Claim-to-repair ratio</a:t>
            </a:r>
          </a:p>
        </p:txBody>
      </p:sp>
      <p:sp>
        <p:nvSpPr>
          <p:cNvPr id="13" name="TextBox 12"/>
          <p:cNvSpPr txBox="1"/>
          <p:nvPr/>
        </p:nvSpPr>
        <p:spPr>
          <a:xfrm>
            <a:off x="4636008" y="2167128"/>
            <a:ext cx="2953512" cy="886968"/>
          </a:xfrm>
          <a:prstGeom prst="rect">
            <a:avLst/>
          </a:prstGeom>
          <a:noFill/>
        </p:spPr>
        <p:txBody>
          <a:bodyPr wrap="square" anchor="t">
            <a:spAutoFit/>
          </a:bodyPr>
          <a:lstStyle/>
          <a:p>
            <a:pPr algn="l"/>
            <a:r>
              <a:rPr sz="1120" b="0">
                <a:solidFill>
                  <a:srgbClr val="B2C2D6"/>
                </a:solidFill>
                <a:latin typeface="Aptos"/>
              </a:rPr>
              <a:t>Claim amount relative to repair estimate</a:t>
            </a:r>
          </a:p>
        </p:txBody>
      </p:sp>
      <p:sp>
        <p:nvSpPr>
          <p:cNvPr id="14" name="Rounded Rectangle 13"/>
          <p:cNvSpPr/>
          <p:nvPr/>
        </p:nvSpPr>
        <p:spPr>
          <a:xfrm>
            <a:off x="8229600" y="1600200"/>
            <a:ext cx="3337560" cy="157276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600200"/>
            <a:ext cx="50292" cy="1572768"/>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1764792"/>
            <a:ext cx="2971800" cy="320040"/>
          </a:xfrm>
          <a:prstGeom prst="rect">
            <a:avLst/>
          </a:prstGeom>
          <a:noFill/>
        </p:spPr>
        <p:txBody>
          <a:bodyPr wrap="square" anchor="t">
            <a:spAutoFit/>
          </a:bodyPr>
          <a:lstStyle/>
          <a:p>
            <a:pPr algn="l"/>
            <a:r>
              <a:rPr sz="1500" b="1">
                <a:solidFill>
                  <a:srgbClr val="F8FAFC"/>
                </a:solidFill>
                <a:latin typeface="Aptos"/>
              </a:rPr>
              <a:t>Invoice variance %</a:t>
            </a:r>
          </a:p>
        </p:txBody>
      </p:sp>
      <p:sp>
        <p:nvSpPr>
          <p:cNvPr id="17" name="TextBox 16"/>
          <p:cNvSpPr txBox="1"/>
          <p:nvPr/>
        </p:nvSpPr>
        <p:spPr>
          <a:xfrm>
            <a:off x="8430768" y="2167128"/>
            <a:ext cx="2953512" cy="886968"/>
          </a:xfrm>
          <a:prstGeom prst="rect">
            <a:avLst/>
          </a:prstGeom>
          <a:noFill/>
        </p:spPr>
        <p:txBody>
          <a:bodyPr wrap="square" anchor="t">
            <a:spAutoFit/>
          </a:bodyPr>
          <a:lstStyle/>
          <a:p>
            <a:pPr algn="l"/>
            <a:r>
              <a:rPr sz="1120" b="0">
                <a:solidFill>
                  <a:srgbClr val="B2C2D6"/>
                </a:solidFill>
                <a:latin typeface="Aptos"/>
              </a:rPr>
              <a:t>Difference between final invoice and repair estimate</a:t>
            </a:r>
          </a:p>
        </p:txBody>
      </p:sp>
      <p:sp>
        <p:nvSpPr>
          <p:cNvPr id="18" name="Rounded Rectangle 17"/>
          <p:cNvSpPr/>
          <p:nvPr/>
        </p:nvSpPr>
        <p:spPr>
          <a:xfrm>
            <a:off x="640080" y="3611880"/>
            <a:ext cx="3337560" cy="157276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611880"/>
            <a:ext cx="50292" cy="157276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776472"/>
            <a:ext cx="2971800" cy="320040"/>
          </a:xfrm>
          <a:prstGeom prst="rect">
            <a:avLst/>
          </a:prstGeom>
          <a:noFill/>
        </p:spPr>
        <p:txBody>
          <a:bodyPr wrap="square" anchor="t">
            <a:spAutoFit/>
          </a:bodyPr>
          <a:lstStyle/>
          <a:p>
            <a:pPr algn="l"/>
            <a:r>
              <a:rPr sz="1500" b="1">
                <a:solidFill>
                  <a:srgbClr val="F8FAFC"/>
                </a:solidFill>
                <a:latin typeface="Aptos"/>
              </a:rPr>
              <a:t>Missing document count</a:t>
            </a:r>
          </a:p>
        </p:txBody>
      </p:sp>
      <p:sp>
        <p:nvSpPr>
          <p:cNvPr id="21" name="TextBox 20"/>
          <p:cNvSpPr txBox="1"/>
          <p:nvPr/>
        </p:nvSpPr>
        <p:spPr>
          <a:xfrm>
            <a:off x="841247" y="4178808"/>
            <a:ext cx="2953512" cy="886968"/>
          </a:xfrm>
          <a:prstGeom prst="rect">
            <a:avLst/>
          </a:prstGeom>
          <a:noFill/>
        </p:spPr>
        <p:txBody>
          <a:bodyPr wrap="square" anchor="t">
            <a:spAutoFit/>
          </a:bodyPr>
          <a:lstStyle/>
          <a:p>
            <a:pPr algn="l"/>
            <a:r>
              <a:rPr sz="1120" b="0">
                <a:solidFill>
                  <a:srgbClr val="B2C2D6"/>
                </a:solidFill>
                <a:latin typeface="Aptos"/>
              </a:rPr>
              <a:t>Amount of missing supporting documentation</a:t>
            </a:r>
          </a:p>
        </p:txBody>
      </p:sp>
      <p:sp>
        <p:nvSpPr>
          <p:cNvPr id="22" name="Rounded Rectangle 21"/>
          <p:cNvSpPr/>
          <p:nvPr/>
        </p:nvSpPr>
        <p:spPr>
          <a:xfrm>
            <a:off x="4434840" y="3611880"/>
            <a:ext cx="3337560" cy="157276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34840" y="3611880"/>
            <a:ext cx="50292" cy="1572768"/>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6008" y="3776472"/>
            <a:ext cx="2971800" cy="320040"/>
          </a:xfrm>
          <a:prstGeom prst="rect">
            <a:avLst/>
          </a:prstGeom>
          <a:noFill/>
        </p:spPr>
        <p:txBody>
          <a:bodyPr wrap="square" anchor="t">
            <a:spAutoFit/>
          </a:bodyPr>
          <a:lstStyle/>
          <a:p>
            <a:pPr algn="l"/>
            <a:r>
              <a:rPr sz="1500" b="1">
                <a:solidFill>
                  <a:srgbClr val="F8FAFC"/>
                </a:solidFill>
                <a:latin typeface="Aptos"/>
              </a:rPr>
              <a:t>Historical claim frequency</a:t>
            </a:r>
          </a:p>
        </p:txBody>
      </p:sp>
      <p:sp>
        <p:nvSpPr>
          <p:cNvPr id="25" name="TextBox 24"/>
          <p:cNvSpPr txBox="1"/>
          <p:nvPr/>
        </p:nvSpPr>
        <p:spPr>
          <a:xfrm>
            <a:off x="4636008" y="4178808"/>
            <a:ext cx="2953512" cy="886968"/>
          </a:xfrm>
          <a:prstGeom prst="rect">
            <a:avLst/>
          </a:prstGeom>
          <a:noFill/>
        </p:spPr>
        <p:txBody>
          <a:bodyPr wrap="square" anchor="t">
            <a:spAutoFit/>
          </a:bodyPr>
          <a:lstStyle/>
          <a:p>
            <a:pPr algn="l"/>
            <a:r>
              <a:rPr sz="1120" b="0">
                <a:solidFill>
                  <a:srgbClr val="B2C2D6"/>
                </a:solidFill>
                <a:latin typeface="Aptos"/>
              </a:rPr>
              <a:t>Previous claim activity</a:t>
            </a:r>
          </a:p>
        </p:txBody>
      </p:sp>
      <p:sp>
        <p:nvSpPr>
          <p:cNvPr id="26" name="Rounded Rectangle 25"/>
          <p:cNvSpPr/>
          <p:nvPr/>
        </p:nvSpPr>
        <p:spPr>
          <a:xfrm>
            <a:off x="8229600" y="3611880"/>
            <a:ext cx="3337560" cy="157276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0" y="3611880"/>
            <a:ext cx="50292" cy="1572768"/>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30768" y="3776472"/>
            <a:ext cx="2971800" cy="320040"/>
          </a:xfrm>
          <a:prstGeom prst="rect">
            <a:avLst/>
          </a:prstGeom>
          <a:noFill/>
        </p:spPr>
        <p:txBody>
          <a:bodyPr wrap="square" anchor="t">
            <a:spAutoFit/>
          </a:bodyPr>
          <a:lstStyle/>
          <a:p>
            <a:pPr algn="l"/>
            <a:r>
              <a:rPr sz="1500" b="1">
                <a:solidFill>
                  <a:srgbClr val="F8FAFC"/>
                </a:solidFill>
                <a:latin typeface="Aptos"/>
              </a:rPr>
              <a:t>High-value claim indicator</a:t>
            </a:r>
          </a:p>
        </p:txBody>
      </p:sp>
      <p:sp>
        <p:nvSpPr>
          <p:cNvPr id="29" name="TextBox 28"/>
          <p:cNvSpPr txBox="1"/>
          <p:nvPr/>
        </p:nvSpPr>
        <p:spPr>
          <a:xfrm>
            <a:off x="8430768" y="4178808"/>
            <a:ext cx="2953512" cy="886968"/>
          </a:xfrm>
          <a:prstGeom prst="rect">
            <a:avLst/>
          </a:prstGeom>
          <a:noFill/>
        </p:spPr>
        <p:txBody>
          <a:bodyPr wrap="square" anchor="t">
            <a:spAutoFit/>
          </a:bodyPr>
          <a:lstStyle/>
          <a:p>
            <a:pPr algn="l"/>
            <a:r>
              <a:rPr sz="1120" b="0">
                <a:solidFill>
                  <a:srgbClr val="B2C2D6"/>
                </a:solidFill>
                <a:latin typeface="Aptos"/>
              </a:rPr>
              <a:t>Flags unusually large claims</a:t>
            </a:r>
          </a:p>
        </p:txBody>
      </p:sp>
      <p:sp>
        <p:nvSpPr>
          <p:cNvPr id="30" name="TextBox 29"/>
          <p:cNvSpPr txBox="1"/>
          <p:nvPr/>
        </p:nvSpPr>
        <p:spPr>
          <a:xfrm>
            <a:off x="685800" y="5715000"/>
            <a:ext cx="7772400" cy="320040"/>
          </a:xfrm>
          <a:prstGeom prst="rect">
            <a:avLst/>
          </a:prstGeom>
          <a:noFill/>
        </p:spPr>
        <p:txBody>
          <a:bodyPr wrap="square" anchor="t">
            <a:spAutoFit/>
          </a:bodyPr>
          <a:lstStyle/>
          <a:p>
            <a:pPr algn="l"/>
            <a:r>
              <a:rPr sz="1300" b="1">
                <a:solidFill>
                  <a:srgbClr val="F5B446"/>
                </a:solidFill>
                <a:latin typeface="Aptos"/>
              </a:rPr>
              <a:t>Important: these are risk signals, not proof of fraud.</a:t>
            </a:r>
          </a:p>
        </p:txBody>
      </p:sp>
      <p:sp>
        <p:nvSpPr>
          <p:cNvPr id="31" name="TextBox 30"/>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32" name="TextBox 31"/>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10 • MACHINE LEARNING</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Preprocessing &amp; model training</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project trains multiple candidate models through the shared training pipeline.</a:t>
            </a:r>
          </a:p>
        </p:txBody>
      </p:sp>
      <p:sp>
        <p:nvSpPr>
          <p:cNvPr id="6" name="Rounded Rectangle 5"/>
          <p:cNvSpPr/>
          <p:nvPr/>
        </p:nvSpPr>
        <p:spPr>
          <a:xfrm>
            <a:off x="658368" y="1600200"/>
            <a:ext cx="2560320" cy="40690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0200"/>
            <a:ext cx="50292" cy="406908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64792"/>
            <a:ext cx="2194560" cy="320040"/>
          </a:xfrm>
          <a:prstGeom prst="rect">
            <a:avLst/>
          </a:prstGeom>
          <a:noFill/>
        </p:spPr>
        <p:txBody>
          <a:bodyPr wrap="square" anchor="t">
            <a:spAutoFit/>
          </a:bodyPr>
          <a:lstStyle/>
          <a:p>
            <a:pPr algn="l"/>
            <a:r>
              <a:rPr sz="1500" b="1">
                <a:solidFill>
                  <a:srgbClr val="F8FAFC"/>
                </a:solidFill>
                <a:latin typeface="Aptos"/>
              </a:rPr>
              <a:t>Input matrix X</a:t>
            </a:r>
          </a:p>
        </p:txBody>
      </p:sp>
      <p:sp>
        <p:nvSpPr>
          <p:cNvPr id="9" name="TextBox 8"/>
          <p:cNvSpPr txBox="1"/>
          <p:nvPr/>
        </p:nvSpPr>
        <p:spPr>
          <a:xfrm>
            <a:off x="859536" y="2167128"/>
            <a:ext cx="2176272" cy="3383280"/>
          </a:xfrm>
          <a:prstGeom prst="rect">
            <a:avLst/>
          </a:prstGeom>
          <a:noFill/>
        </p:spPr>
        <p:txBody>
          <a:bodyPr wrap="square" anchor="t">
            <a:spAutoFit/>
          </a:bodyPr>
          <a:lstStyle/>
          <a:p>
            <a:pPr algn="l"/>
            <a:r>
              <a:rPr sz="1120" b="0">
                <a:solidFill>
                  <a:srgbClr val="B2C2D6"/>
                </a:solidFill>
                <a:latin typeface="Aptos"/>
              </a:rPr>
              <a:t>Engineered features are used as model inputs.
TARGET = "Fraud or risk label" is kept separate from X.</a:t>
            </a:r>
          </a:p>
        </p:txBody>
      </p:sp>
      <p:cxnSp>
        <p:nvCxnSpPr>
          <p:cNvPr id="10" name="Connector 9"/>
          <p:cNvCxnSpPr/>
          <p:nvPr/>
        </p:nvCxnSpPr>
        <p:spPr>
          <a:xfrm>
            <a:off x="3337560" y="3611880"/>
            <a:ext cx="640079" cy="0"/>
          </a:xfrm>
          <a:prstGeom prst="line">
            <a:avLst/>
          </a:prstGeom>
          <a:ln w="25400">
            <a:solidFill>
              <a:srgbClr val="58C7F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069080" y="1600200"/>
            <a:ext cx="2560320" cy="40690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9080" y="1600200"/>
            <a:ext cx="50292" cy="406908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0248" y="1764792"/>
            <a:ext cx="2194560" cy="320040"/>
          </a:xfrm>
          <a:prstGeom prst="rect">
            <a:avLst/>
          </a:prstGeom>
          <a:noFill/>
        </p:spPr>
        <p:txBody>
          <a:bodyPr wrap="square" anchor="t">
            <a:spAutoFit/>
          </a:bodyPr>
          <a:lstStyle/>
          <a:p>
            <a:pPr algn="l"/>
            <a:r>
              <a:rPr sz="1500" b="1">
                <a:solidFill>
                  <a:srgbClr val="F8FAFC"/>
                </a:solidFill>
                <a:latin typeface="Aptos"/>
              </a:rPr>
              <a:t>Pipeline</a:t>
            </a:r>
          </a:p>
        </p:txBody>
      </p:sp>
      <p:sp>
        <p:nvSpPr>
          <p:cNvPr id="14" name="TextBox 13"/>
          <p:cNvSpPr txBox="1"/>
          <p:nvPr/>
        </p:nvSpPr>
        <p:spPr>
          <a:xfrm>
            <a:off x="4270248" y="2167128"/>
            <a:ext cx="2176272" cy="3383280"/>
          </a:xfrm>
          <a:prstGeom prst="rect">
            <a:avLst/>
          </a:prstGeom>
          <a:noFill/>
        </p:spPr>
        <p:txBody>
          <a:bodyPr wrap="square" anchor="t">
            <a:spAutoFit/>
          </a:bodyPr>
          <a:lstStyle/>
          <a:p>
            <a:pPr algn="l"/>
            <a:r>
              <a:rPr sz="1120" b="0">
                <a:solidFill>
                  <a:srgbClr val="B2C2D6"/>
                </a:solidFill>
                <a:latin typeface="Aptos"/>
              </a:rPr>
              <a:t>Preprocessing is combined with the estimator so transformations are applied consistently during training and prediction.</a:t>
            </a:r>
          </a:p>
        </p:txBody>
      </p:sp>
      <p:cxnSp>
        <p:nvCxnSpPr>
          <p:cNvPr id="15" name="Connector 14"/>
          <p:cNvCxnSpPr/>
          <p:nvPr/>
        </p:nvCxnSpPr>
        <p:spPr>
          <a:xfrm>
            <a:off x="6748272" y="3611880"/>
            <a:ext cx="640080" cy="0"/>
          </a:xfrm>
          <a:prstGeom prst="line">
            <a:avLst/>
          </a:prstGeom>
          <a:ln w="25400">
            <a:solidFill>
              <a:srgbClr val="58C7F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79792" y="1600200"/>
            <a:ext cx="2560320" cy="40690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79792" y="1600200"/>
            <a:ext cx="50292" cy="406908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1764792"/>
            <a:ext cx="2194560" cy="320040"/>
          </a:xfrm>
          <a:prstGeom prst="rect">
            <a:avLst/>
          </a:prstGeom>
          <a:noFill/>
        </p:spPr>
        <p:txBody>
          <a:bodyPr wrap="square" anchor="t">
            <a:spAutoFit/>
          </a:bodyPr>
          <a:lstStyle/>
          <a:p>
            <a:pPr algn="l"/>
            <a:r>
              <a:rPr sz="1500" b="1">
                <a:solidFill>
                  <a:srgbClr val="F8FAFC"/>
                </a:solidFill>
                <a:latin typeface="Aptos"/>
              </a:rPr>
              <a:t>Candidate models</a:t>
            </a:r>
          </a:p>
        </p:txBody>
      </p:sp>
      <p:sp>
        <p:nvSpPr>
          <p:cNvPr id="19" name="TextBox 18"/>
          <p:cNvSpPr txBox="1"/>
          <p:nvPr/>
        </p:nvSpPr>
        <p:spPr>
          <a:xfrm>
            <a:off x="7680960" y="2167128"/>
            <a:ext cx="2176272" cy="3383280"/>
          </a:xfrm>
          <a:prstGeom prst="rect">
            <a:avLst/>
          </a:prstGeom>
          <a:noFill/>
        </p:spPr>
        <p:txBody>
          <a:bodyPr wrap="square" anchor="t">
            <a:spAutoFit/>
          </a:bodyPr>
          <a:lstStyle/>
          <a:p>
            <a:pPr algn="l"/>
            <a:r>
              <a:rPr sz="1120" b="0">
                <a:solidFill>
                  <a:srgbClr val="B2C2D6"/>
                </a:solidFill>
                <a:latin typeface="Aptos"/>
              </a:rPr>
              <a:t>• Simple baseline
• Logistic Regression
• Random Forest
The project compares their performance rather than assuming one algorithm is always best.</a:t>
            </a:r>
          </a:p>
        </p:txBody>
      </p:sp>
      <p:cxnSp>
        <p:nvCxnSpPr>
          <p:cNvPr id="20" name="Connector 19"/>
          <p:cNvCxnSpPr/>
          <p:nvPr/>
        </p:nvCxnSpPr>
        <p:spPr>
          <a:xfrm>
            <a:off x="10149840" y="3611880"/>
            <a:ext cx="502920" cy="0"/>
          </a:xfrm>
          <a:prstGeom prst="line">
            <a:avLst/>
          </a:prstGeom>
          <a:ln w="25400">
            <a:solidFill>
              <a:srgbClr val="58C7F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16768" y="1600200"/>
            <a:ext cx="914400" cy="40690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16768" y="1600200"/>
            <a:ext cx="50292" cy="406908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17936" y="1764792"/>
            <a:ext cx="548640" cy="320040"/>
          </a:xfrm>
          <a:prstGeom prst="rect">
            <a:avLst/>
          </a:prstGeom>
          <a:noFill/>
        </p:spPr>
        <p:txBody>
          <a:bodyPr wrap="square" anchor="t">
            <a:spAutoFit/>
          </a:bodyPr>
          <a:lstStyle/>
          <a:p>
            <a:pPr algn="l"/>
            <a:r>
              <a:rPr sz="1500" b="1">
                <a:solidFill>
                  <a:srgbClr val="F8FAFC"/>
                </a:solidFill>
                <a:latin typeface="Aptos"/>
              </a:rPr>
              <a:t>→</a:t>
            </a:r>
          </a:p>
        </p:txBody>
      </p:sp>
      <p:sp>
        <p:nvSpPr>
          <p:cNvPr id="24" name="TextBox 23"/>
          <p:cNvSpPr txBox="1"/>
          <p:nvPr/>
        </p:nvSpPr>
        <p:spPr>
          <a:xfrm>
            <a:off x="10917936" y="2167128"/>
            <a:ext cx="530352" cy="3383280"/>
          </a:xfrm>
          <a:prstGeom prst="rect">
            <a:avLst/>
          </a:prstGeom>
          <a:noFill/>
        </p:spPr>
        <p:txBody>
          <a:bodyPr wrap="square" anchor="t">
            <a:spAutoFit/>
          </a:bodyPr>
          <a:lstStyle/>
          <a:p>
            <a:pPr algn="l"/>
            <a:r>
              <a:rPr sz="1120" b="0">
                <a:solidFill>
                  <a:srgbClr val="B2C2D6"/>
                </a:solidFill>
                <a:latin typeface="Aptos"/>
              </a:rPr>
              <a:t>Select / score</a:t>
            </a:r>
          </a:p>
        </p:txBody>
      </p:sp>
      <p:sp>
        <p:nvSpPr>
          <p:cNvPr id="25" name="TextBox 24"/>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26" name="TextBox 25"/>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11 • MODEL CHOICE</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Why these models?</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Each candidate offers a different balance between simplicity, interpretability and nonlinear learning.</a:t>
            </a:r>
          </a:p>
        </p:txBody>
      </p:sp>
      <p:sp>
        <p:nvSpPr>
          <p:cNvPr id="6" name="Rounded Rectangle 5"/>
          <p:cNvSpPr/>
          <p:nvPr/>
        </p:nvSpPr>
        <p:spPr>
          <a:xfrm>
            <a:off x="685800" y="1600200"/>
            <a:ext cx="3383280" cy="420624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600200"/>
            <a:ext cx="50292" cy="4206240"/>
          </a:xfrm>
          <a:prstGeom prst="rect">
            <a:avLst/>
          </a:prstGeom>
          <a:solidFill>
            <a:srgbClr val="B2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64792"/>
            <a:ext cx="3017520" cy="320040"/>
          </a:xfrm>
          <a:prstGeom prst="rect">
            <a:avLst/>
          </a:prstGeom>
          <a:noFill/>
        </p:spPr>
        <p:txBody>
          <a:bodyPr wrap="square" anchor="t">
            <a:spAutoFit/>
          </a:bodyPr>
          <a:lstStyle/>
          <a:p>
            <a:pPr algn="l"/>
            <a:r>
              <a:rPr sz="1500" b="1">
                <a:solidFill>
                  <a:srgbClr val="F8FAFC"/>
                </a:solidFill>
                <a:latin typeface="Aptos"/>
              </a:rPr>
              <a:t>Simple baseline</a:t>
            </a:r>
          </a:p>
        </p:txBody>
      </p:sp>
      <p:sp>
        <p:nvSpPr>
          <p:cNvPr id="9" name="TextBox 8"/>
          <p:cNvSpPr txBox="1"/>
          <p:nvPr/>
        </p:nvSpPr>
        <p:spPr>
          <a:xfrm>
            <a:off x="886968" y="2167128"/>
            <a:ext cx="2999232" cy="3520439"/>
          </a:xfrm>
          <a:prstGeom prst="rect">
            <a:avLst/>
          </a:prstGeom>
          <a:noFill/>
        </p:spPr>
        <p:txBody>
          <a:bodyPr wrap="square" anchor="t">
            <a:spAutoFit/>
          </a:bodyPr>
          <a:lstStyle/>
          <a:p>
            <a:pPr algn="l"/>
            <a:r>
              <a:rPr sz="1120" b="0">
                <a:solidFill>
                  <a:srgbClr val="B2C2D6"/>
                </a:solidFill>
                <a:latin typeface="Aptos"/>
              </a:rPr>
              <a:t>Purpose: establish a reference point.
If a complex model cannot beat a simple reference, the extra complexity may not be justified.</a:t>
            </a:r>
          </a:p>
        </p:txBody>
      </p:sp>
      <p:sp>
        <p:nvSpPr>
          <p:cNvPr id="10" name="Rounded Rectangle 9"/>
          <p:cNvSpPr/>
          <p:nvPr/>
        </p:nvSpPr>
        <p:spPr>
          <a:xfrm>
            <a:off x="4407408" y="1600200"/>
            <a:ext cx="3383280" cy="420624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600200"/>
            <a:ext cx="50292" cy="420624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64792"/>
            <a:ext cx="3017520" cy="320040"/>
          </a:xfrm>
          <a:prstGeom prst="rect">
            <a:avLst/>
          </a:prstGeom>
          <a:noFill/>
        </p:spPr>
        <p:txBody>
          <a:bodyPr wrap="square" anchor="t">
            <a:spAutoFit/>
          </a:bodyPr>
          <a:lstStyle/>
          <a:p>
            <a:pPr algn="l"/>
            <a:r>
              <a:rPr sz="1500" b="1">
                <a:solidFill>
                  <a:srgbClr val="F8FAFC"/>
                </a:solidFill>
                <a:latin typeface="Aptos"/>
              </a:rPr>
              <a:t>Logistic Regression</a:t>
            </a:r>
          </a:p>
        </p:txBody>
      </p:sp>
      <p:sp>
        <p:nvSpPr>
          <p:cNvPr id="13" name="TextBox 12"/>
          <p:cNvSpPr txBox="1"/>
          <p:nvPr/>
        </p:nvSpPr>
        <p:spPr>
          <a:xfrm>
            <a:off x="4608576" y="2167128"/>
            <a:ext cx="2999232" cy="3520439"/>
          </a:xfrm>
          <a:prstGeom prst="rect">
            <a:avLst/>
          </a:prstGeom>
          <a:noFill/>
        </p:spPr>
        <p:txBody>
          <a:bodyPr wrap="square" anchor="t">
            <a:spAutoFit/>
          </a:bodyPr>
          <a:lstStyle/>
          <a:p>
            <a:pPr algn="l"/>
            <a:r>
              <a:rPr sz="1120" b="0">
                <a:solidFill>
                  <a:srgbClr val="B2C2D6"/>
                </a:solidFill>
                <a:latin typeface="Aptos"/>
              </a:rPr>
              <a:t>Interpretable linear model.
Useful as a transparent baseline and a strong starting point for binary risk classification.</a:t>
            </a:r>
          </a:p>
        </p:txBody>
      </p:sp>
      <p:sp>
        <p:nvSpPr>
          <p:cNvPr id="14" name="Rounded Rectangle 13"/>
          <p:cNvSpPr/>
          <p:nvPr/>
        </p:nvSpPr>
        <p:spPr>
          <a:xfrm>
            <a:off x="8129016" y="1600200"/>
            <a:ext cx="3383280" cy="420624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6" y="1600200"/>
            <a:ext cx="50292" cy="420624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4" y="1764792"/>
            <a:ext cx="3017520" cy="320040"/>
          </a:xfrm>
          <a:prstGeom prst="rect">
            <a:avLst/>
          </a:prstGeom>
          <a:noFill/>
        </p:spPr>
        <p:txBody>
          <a:bodyPr wrap="square" anchor="t">
            <a:spAutoFit/>
          </a:bodyPr>
          <a:lstStyle/>
          <a:p>
            <a:pPr algn="l"/>
            <a:r>
              <a:rPr sz="1500" b="1">
                <a:solidFill>
                  <a:srgbClr val="F8FAFC"/>
                </a:solidFill>
                <a:latin typeface="Aptos"/>
              </a:rPr>
              <a:t>Random Forest</a:t>
            </a:r>
          </a:p>
        </p:txBody>
      </p:sp>
      <p:sp>
        <p:nvSpPr>
          <p:cNvPr id="17" name="TextBox 16"/>
          <p:cNvSpPr txBox="1"/>
          <p:nvPr/>
        </p:nvSpPr>
        <p:spPr>
          <a:xfrm>
            <a:off x="8330184" y="2167128"/>
            <a:ext cx="2999232" cy="3520439"/>
          </a:xfrm>
          <a:prstGeom prst="rect">
            <a:avLst/>
          </a:prstGeom>
          <a:noFill/>
        </p:spPr>
        <p:txBody>
          <a:bodyPr wrap="square" anchor="t">
            <a:spAutoFit/>
          </a:bodyPr>
          <a:lstStyle/>
          <a:p>
            <a:pPr algn="l"/>
            <a:r>
              <a:rPr sz="1120" b="0">
                <a:solidFill>
                  <a:srgbClr val="B2C2D6"/>
                </a:solidFill>
                <a:latin typeface="Aptos"/>
              </a:rPr>
              <a:t>Tree-based ensemble that can capture nonlinear relationships and feature interactions.
Useful when risk patterns are not purely linear.</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12 • EVALUATION</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Evaluation strategy</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Fraud/risk classification is evaluated with metrics beyond accuracy.</a:t>
            </a:r>
          </a:p>
        </p:txBody>
      </p:sp>
      <p:sp>
        <p:nvSpPr>
          <p:cNvPr id="6" name="Rounded Rectangle 5"/>
          <p:cNvSpPr/>
          <p:nvPr/>
        </p:nvSpPr>
        <p:spPr>
          <a:xfrm>
            <a:off x="594360" y="1600200"/>
            <a:ext cx="338328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00200"/>
            <a:ext cx="50292" cy="1627632"/>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764792"/>
            <a:ext cx="3017520" cy="320040"/>
          </a:xfrm>
          <a:prstGeom prst="rect">
            <a:avLst/>
          </a:prstGeom>
          <a:noFill/>
        </p:spPr>
        <p:txBody>
          <a:bodyPr wrap="square" anchor="t">
            <a:spAutoFit/>
          </a:bodyPr>
          <a:lstStyle/>
          <a:p>
            <a:pPr algn="l"/>
            <a:r>
              <a:rPr sz="1500" b="1">
                <a:solidFill>
                  <a:srgbClr val="F8FAFC"/>
                </a:solidFill>
                <a:latin typeface="Aptos"/>
              </a:rPr>
              <a:t>Precision</a:t>
            </a:r>
          </a:p>
        </p:txBody>
      </p:sp>
      <p:sp>
        <p:nvSpPr>
          <p:cNvPr id="9" name="TextBox 8"/>
          <p:cNvSpPr txBox="1"/>
          <p:nvPr/>
        </p:nvSpPr>
        <p:spPr>
          <a:xfrm>
            <a:off x="795528" y="2167128"/>
            <a:ext cx="2999232" cy="941832"/>
          </a:xfrm>
          <a:prstGeom prst="rect">
            <a:avLst/>
          </a:prstGeom>
          <a:noFill/>
        </p:spPr>
        <p:txBody>
          <a:bodyPr wrap="square" anchor="t">
            <a:spAutoFit/>
          </a:bodyPr>
          <a:lstStyle/>
          <a:p>
            <a:pPr algn="l"/>
            <a:r>
              <a:rPr sz="1120" b="0">
                <a:solidFill>
                  <a:srgbClr val="B2C2D6"/>
                </a:solidFill>
                <a:latin typeface="Aptos"/>
              </a:rPr>
              <a:t>Of the claims flagged positive, how many were actually positive?</a:t>
            </a:r>
          </a:p>
        </p:txBody>
      </p:sp>
      <p:sp>
        <p:nvSpPr>
          <p:cNvPr id="10" name="Rounded Rectangle 9"/>
          <p:cNvSpPr/>
          <p:nvPr/>
        </p:nvSpPr>
        <p:spPr>
          <a:xfrm>
            <a:off x="4434840" y="1600200"/>
            <a:ext cx="338328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600200"/>
            <a:ext cx="50292" cy="16276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8" y="1764792"/>
            <a:ext cx="3017520" cy="320040"/>
          </a:xfrm>
          <a:prstGeom prst="rect">
            <a:avLst/>
          </a:prstGeom>
          <a:noFill/>
        </p:spPr>
        <p:txBody>
          <a:bodyPr wrap="square" anchor="t">
            <a:spAutoFit/>
          </a:bodyPr>
          <a:lstStyle/>
          <a:p>
            <a:pPr algn="l"/>
            <a:r>
              <a:rPr sz="1500" b="1">
                <a:solidFill>
                  <a:srgbClr val="F8FAFC"/>
                </a:solidFill>
                <a:latin typeface="Aptos"/>
              </a:rPr>
              <a:t>Recall</a:t>
            </a:r>
          </a:p>
        </p:txBody>
      </p:sp>
      <p:sp>
        <p:nvSpPr>
          <p:cNvPr id="13" name="TextBox 12"/>
          <p:cNvSpPr txBox="1"/>
          <p:nvPr/>
        </p:nvSpPr>
        <p:spPr>
          <a:xfrm>
            <a:off x="4636008" y="2167128"/>
            <a:ext cx="2999232" cy="941832"/>
          </a:xfrm>
          <a:prstGeom prst="rect">
            <a:avLst/>
          </a:prstGeom>
          <a:noFill/>
        </p:spPr>
        <p:txBody>
          <a:bodyPr wrap="square" anchor="t">
            <a:spAutoFit/>
          </a:bodyPr>
          <a:lstStyle/>
          <a:p>
            <a:pPr algn="l"/>
            <a:r>
              <a:rPr sz="1120" b="0">
                <a:solidFill>
                  <a:srgbClr val="B2C2D6"/>
                </a:solidFill>
                <a:latin typeface="Aptos"/>
              </a:rPr>
              <a:t>Of the positive claims, how many did the model identify?</a:t>
            </a:r>
          </a:p>
        </p:txBody>
      </p:sp>
      <p:sp>
        <p:nvSpPr>
          <p:cNvPr id="14" name="Rounded Rectangle 13"/>
          <p:cNvSpPr/>
          <p:nvPr/>
        </p:nvSpPr>
        <p:spPr>
          <a:xfrm>
            <a:off x="8275320" y="1600200"/>
            <a:ext cx="338328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75320" y="1600200"/>
            <a:ext cx="50292" cy="1627632"/>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76488" y="1764792"/>
            <a:ext cx="3017520" cy="320040"/>
          </a:xfrm>
          <a:prstGeom prst="rect">
            <a:avLst/>
          </a:prstGeom>
          <a:noFill/>
        </p:spPr>
        <p:txBody>
          <a:bodyPr wrap="square" anchor="t">
            <a:spAutoFit/>
          </a:bodyPr>
          <a:lstStyle/>
          <a:p>
            <a:pPr algn="l"/>
            <a:r>
              <a:rPr sz="1500" b="1">
                <a:solidFill>
                  <a:srgbClr val="F8FAFC"/>
                </a:solidFill>
                <a:latin typeface="Aptos"/>
              </a:rPr>
              <a:t>F1</a:t>
            </a:r>
          </a:p>
        </p:txBody>
      </p:sp>
      <p:sp>
        <p:nvSpPr>
          <p:cNvPr id="17" name="TextBox 16"/>
          <p:cNvSpPr txBox="1"/>
          <p:nvPr/>
        </p:nvSpPr>
        <p:spPr>
          <a:xfrm>
            <a:off x="8476488" y="2167128"/>
            <a:ext cx="2999232" cy="941832"/>
          </a:xfrm>
          <a:prstGeom prst="rect">
            <a:avLst/>
          </a:prstGeom>
          <a:noFill/>
        </p:spPr>
        <p:txBody>
          <a:bodyPr wrap="square" anchor="t">
            <a:spAutoFit/>
          </a:bodyPr>
          <a:lstStyle/>
          <a:p>
            <a:pPr algn="l"/>
            <a:r>
              <a:rPr sz="1120" b="0">
                <a:solidFill>
                  <a:srgbClr val="B2C2D6"/>
                </a:solidFill>
                <a:latin typeface="Aptos"/>
              </a:rPr>
              <a:t>Balances precision and recall in one score.</a:t>
            </a:r>
          </a:p>
        </p:txBody>
      </p:sp>
      <p:sp>
        <p:nvSpPr>
          <p:cNvPr id="18" name="Rounded Rectangle 17"/>
          <p:cNvSpPr/>
          <p:nvPr/>
        </p:nvSpPr>
        <p:spPr>
          <a:xfrm>
            <a:off x="594360" y="3657600"/>
            <a:ext cx="338328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657600"/>
            <a:ext cx="50292" cy="1627632"/>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822191"/>
            <a:ext cx="3017520" cy="320040"/>
          </a:xfrm>
          <a:prstGeom prst="rect">
            <a:avLst/>
          </a:prstGeom>
          <a:noFill/>
        </p:spPr>
        <p:txBody>
          <a:bodyPr wrap="square" anchor="t">
            <a:spAutoFit/>
          </a:bodyPr>
          <a:lstStyle/>
          <a:p>
            <a:pPr algn="l"/>
            <a:r>
              <a:rPr sz="1500" b="1">
                <a:solidFill>
                  <a:srgbClr val="F8FAFC"/>
                </a:solidFill>
                <a:latin typeface="Aptos"/>
              </a:rPr>
              <a:t>ROC-AUC</a:t>
            </a:r>
          </a:p>
        </p:txBody>
      </p:sp>
      <p:sp>
        <p:nvSpPr>
          <p:cNvPr id="21" name="TextBox 20"/>
          <p:cNvSpPr txBox="1"/>
          <p:nvPr/>
        </p:nvSpPr>
        <p:spPr>
          <a:xfrm>
            <a:off x="795528" y="4224528"/>
            <a:ext cx="2999232" cy="941832"/>
          </a:xfrm>
          <a:prstGeom prst="rect">
            <a:avLst/>
          </a:prstGeom>
          <a:noFill/>
        </p:spPr>
        <p:txBody>
          <a:bodyPr wrap="square" anchor="t">
            <a:spAutoFit/>
          </a:bodyPr>
          <a:lstStyle/>
          <a:p>
            <a:pPr algn="l"/>
            <a:r>
              <a:rPr sz="1120" b="0">
                <a:solidFill>
                  <a:srgbClr val="B2C2D6"/>
                </a:solidFill>
                <a:latin typeface="Aptos"/>
              </a:rPr>
              <a:t>Measures ranking quality across classification thresholds.</a:t>
            </a:r>
          </a:p>
        </p:txBody>
      </p:sp>
      <p:sp>
        <p:nvSpPr>
          <p:cNvPr id="22" name="Rounded Rectangle 21"/>
          <p:cNvSpPr/>
          <p:nvPr/>
        </p:nvSpPr>
        <p:spPr>
          <a:xfrm>
            <a:off x="4434840" y="3657600"/>
            <a:ext cx="338328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34840" y="3657600"/>
            <a:ext cx="50292" cy="1627632"/>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36008" y="3822191"/>
            <a:ext cx="3017520" cy="320040"/>
          </a:xfrm>
          <a:prstGeom prst="rect">
            <a:avLst/>
          </a:prstGeom>
          <a:noFill/>
        </p:spPr>
        <p:txBody>
          <a:bodyPr wrap="square" anchor="t">
            <a:spAutoFit/>
          </a:bodyPr>
          <a:lstStyle/>
          <a:p>
            <a:pPr algn="l"/>
            <a:r>
              <a:rPr sz="1500" b="1">
                <a:solidFill>
                  <a:srgbClr val="F8FAFC"/>
                </a:solidFill>
                <a:latin typeface="Aptos"/>
              </a:rPr>
              <a:t>PR-AUC</a:t>
            </a:r>
          </a:p>
        </p:txBody>
      </p:sp>
      <p:sp>
        <p:nvSpPr>
          <p:cNvPr id="25" name="TextBox 24"/>
          <p:cNvSpPr txBox="1"/>
          <p:nvPr/>
        </p:nvSpPr>
        <p:spPr>
          <a:xfrm>
            <a:off x="4636008" y="4224528"/>
            <a:ext cx="2999232" cy="941832"/>
          </a:xfrm>
          <a:prstGeom prst="rect">
            <a:avLst/>
          </a:prstGeom>
          <a:noFill/>
        </p:spPr>
        <p:txBody>
          <a:bodyPr wrap="square" anchor="t">
            <a:spAutoFit/>
          </a:bodyPr>
          <a:lstStyle/>
          <a:p>
            <a:pPr algn="l"/>
            <a:r>
              <a:rPr sz="1120" b="0">
                <a:solidFill>
                  <a:srgbClr val="B2C2D6"/>
                </a:solidFill>
                <a:latin typeface="Aptos"/>
              </a:rPr>
              <a:t>Especially useful when the positive class is imbalanced.</a:t>
            </a:r>
          </a:p>
        </p:txBody>
      </p:sp>
      <p:sp>
        <p:nvSpPr>
          <p:cNvPr id="26" name="Rounded Rectangle 25"/>
          <p:cNvSpPr/>
          <p:nvPr/>
        </p:nvSpPr>
        <p:spPr>
          <a:xfrm>
            <a:off x="8275320" y="3657600"/>
            <a:ext cx="338328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75320" y="3657600"/>
            <a:ext cx="50292" cy="1627632"/>
          </a:xfrm>
          <a:prstGeom prst="rect">
            <a:avLst/>
          </a:prstGeom>
          <a:solidFill>
            <a:srgbClr val="B2C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76488" y="3822191"/>
            <a:ext cx="3017520" cy="320040"/>
          </a:xfrm>
          <a:prstGeom prst="rect">
            <a:avLst/>
          </a:prstGeom>
          <a:noFill/>
        </p:spPr>
        <p:txBody>
          <a:bodyPr wrap="square" anchor="t">
            <a:spAutoFit/>
          </a:bodyPr>
          <a:lstStyle/>
          <a:p>
            <a:pPr algn="l"/>
            <a:r>
              <a:rPr sz="1500" b="1">
                <a:solidFill>
                  <a:srgbClr val="F8FAFC"/>
                </a:solidFill>
                <a:latin typeface="Aptos"/>
              </a:rPr>
              <a:t>Confusion matrix</a:t>
            </a:r>
          </a:p>
        </p:txBody>
      </p:sp>
      <p:sp>
        <p:nvSpPr>
          <p:cNvPr id="29" name="TextBox 28"/>
          <p:cNvSpPr txBox="1"/>
          <p:nvPr/>
        </p:nvSpPr>
        <p:spPr>
          <a:xfrm>
            <a:off x="8476488" y="4224528"/>
            <a:ext cx="2999232" cy="941832"/>
          </a:xfrm>
          <a:prstGeom prst="rect">
            <a:avLst/>
          </a:prstGeom>
          <a:noFill/>
        </p:spPr>
        <p:txBody>
          <a:bodyPr wrap="square" anchor="t">
            <a:spAutoFit/>
          </a:bodyPr>
          <a:lstStyle/>
          <a:p>
            <a:pPr algn="l"/>
            <a:r>
              <a:rPr sz="1120" b="0">
                <a:solidFill>
                  <a:srgbClr val="B2C2D6"/>
                </a:solidFill>
                <a:latin typeface="Aptos"/>
              </a:rPr>
              <a:t>Shows TP / TN / FP / FN counts for operational interpretation.</a:t>
            </a:r>
          </a:p>
        </p:txBody>
      </p:sp>
      <p:sp>
        <p:nvSpPr>
          <p:cNvPr id="30" name="TextBox 29"/>
          <p:cNvSpPr txBox="1"/>
          <p:nvPr/>
        </p:nvSpPr>
        <p:spPr>
          <a:xfrm>
            <a:off x="658368" y="5715000"/>
            <a:ext cx="10789920" cy="320040"/>
          </a:xfrm>
          <a:prstGeom prst="rect">
            <a:avLst/>
          </a:prstGeom>
          <a:noFill/>
        </p:spPr>
        <p:txBody>
          <a:bodyPr wrap="square" anchor="t">
            <a:spAutoFit/>
          </a:bodyPr>
          <a:lstStyle/>
          <a:p>
            <a:pPr algn="l"/>
            <a:r>
              <a:rPr sz="1250" b="1">
                <a:solidFill>
                  <a:srgbClr val="F5B446"/>
                </a:solidFill>
                <a:latin typeface="Aptos"/>
              </a:rPr>
              <a:t>Project principle: do not rely on accuracy alone when the risk/fraud class can be imbalanced.</a:t>
            </a:r>
          </a:p>
        </p:txBody>
      </p:sp>
      <p:sp>
        <p:nvSpPr>
          <p:cNvPr id="31" name="TextBox 30"/>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32" name="TextBox 31"/>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13 • MODEL SELECTION</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Model selection &amp; active model</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UI lets the reviewer compare models and switch the active predictor.</a:t>
            </a:r>
          </a:p>
        </p:txBody>
      </p:sp>
      <p:sp>
        <p:nvSpPr>
          <p:cNvPr id="6" name="Rounded Rectangle 5"/>
          <p:cNvSpPr/>
          <p:nvPr/>
        </p:nvSpPr>
        <p:spPr>
          <a:xfrm>
            <a:off x="658368" y="1572768"/>
            <a:ext cx="365760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72768"/>
            <a:ext cx="50292" cy="434340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37360"/>
            <a:ext cx="3291840" cy="320040"/>
          </a:xfrm>
          <a:prstGeom prst="rect">
            <a:avLst/>
          </a:prstGeom>
          <a:noFill/>
        </p:spPr>
        <p:txBody>
          <a:bodyPr wrap="square" anchor="t">
            <a:spAutoFit/>
          </a:bodyPr>
          <a:lstStyle/>
          <a:p>
            <a:pPr algn="l"/>
            <a:r>
              <a:rPr sz="1500" b="1">
                <a:solidFill>
                  <a:srgbClr val="F8FAFC"/>
                </a:solidFill>
                <a:latin typeface="Aptos"/>
              </a:rPr>
              <a:t>Comparison table</a:t>
            </a:r>
          </a:p>
        </p:txBody>
      </p:sp>
      <p:sp>
        <p:nvSpPr>
          <p:cNvPr id="9" name="TextBox 8"/>
          <p:cNvSpPr txBox="1"/>
          <p:nvPr/>
        </p:nvSpPr>
        <p:spPr>
          <a:xfrm>
            <a:off x="859536" y="2139696"/>
            <a:ext cx="3273552" cy="3657600"/>
          </a:xfrm>
          <a:prstGeom prst="rect">
            <a:avLst/>
          </a:prstGeom>
          <a:noFill/>
        </p:spPr>
        <p:txBody>
          <a:bodyPr wrap="square" anchor="t">
            <a:spAutoFit/>
          </a:bodyPr>
          <a:lstStyle/>
          <a:p>
            <a:pPr algn="l"/>
            <a:r>
              <a:rPr sz="1120" b="0">
                <a:solidFill>
                  <a:srgbClr val="B2C2D6"/>
                </a:solidFill>
                <a:latin typeface="Aptos"/>
              </a:rPr>
              <a:t>The Tables page displays model comparison results and formats the available metrics to three decimals.
The sidebar lets the reviewer choose the ranking metric:
• CV PR-AUC
• PR-AUC
• ROC-AUC
• F1
• Recall
• Precision</a:t>
            </a:r>
          </a:p>
        </p:txBody>
      </p:sp>
      <p:sp>
        <p:nvSpPr>
          <p:cNvPr id="10" name="Rounded Rectangle 9"/>
          <p:cNvSpPr/>
          <p:nvPr/>
        </p:nvSpPr>
        <p:spPr>
          <a:xfrm>
            <a:off x="4553712" y="1572768"/>
            <a:ext cx="306324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3712" y="1572768"/>
            <a:ext cx="50292" cy="434340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737360"/>
            <a:ext cx="2697480" cy="320040"/>
          </a:xfrm>
          <a:prstGeom prst="rect">
            <a:avLst/>
          </a:prstGeom>
          <a:noFill/>
        </p:spPr>
        <p:txBody>
          <a:bodyPr wrap="square" anchor="t">
            <a:spAutoFit/>
          </a:bodyPr>
          <a:lstStyle/>
          <a:p>
            <a:pPr algn="l"/>
            <a:r>
              <a:rPr sz="1500" b="1">
                <a:solidFill>
                  <a:srgbClr val="F8FAFC"/>
                </a:solidFill>
                <a:latin typeface="Aptos"/>
              </a:rPr>
              <a:t>All Models</a:t>
            </a:r>
          </a:p>
        </p:txBody>
      </p:sp>
      <p:sp>
        <p:nvSpPr>
          <p:cNvPr id="13" name="TextBox 12"/>
          <p:cNvSpPr txBox="1"/>
          <p:nvPr/>
        </p:nvSpPr>
        <p:spPr>
          <a:xfrm>
            <a:off x="4754880" y="2139696"/>
            <a:ext cx="2679192" cy="3657600"/>
          </a:xfrm>
          <a:prstGeom prst="rect">
            <a:avLst/>
          </a:prstGeom>
          <a:noFill/>
        </p:spPr>
        <p:txBody>
          <a:bodyPr wrap="square" anchor="t">
            <a:spAutoFit/>
          </a:bodyPr>
          <a:lstStyle/>
          <a:p>
            <a:pPr algn="l"/>
            <a:r>
              <a:rPr sz="1120" b="0">
                <a:solidFill>
                  <a:srgbClr val="B2C2D6"/>
                </a:solidFill>
                <a:latin typeface="Aptos"/>
              </a:rPr>
              <a:t>If “All Models” is selected, active_model_data() uses the model ranked first in the comparison results.</a:t>
            </a:r>
          </a:p>
        </p:txBody>
      </p:sp>
      <p:sp>
        <p:nvSpPr>
          <p:cNvPr id="14" name="Rounded Rectangle 13"/>
          <p:cNvSpPr/>
          <p:nvPr/>
        </p:nvSpPr>
        <p:spPr>
          <a:xfrm>
            <a:off x="7845552" y="1572768"/>
            <a:ext cx="361188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45552" y="1572768"/>
            <a:ext cx="50292" cy="434340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1737360"/>
            <a:ext cx="3246120" cy="320040"/>
          </a:xfrm>
          <a:prstGeom prst="rect">
            <a:avLst/>
          </a:prstGeom>
          <a:noFill/>
        </p:spPr>
        <p:txBody>
          <a:bodyPr wrap="square" anchor="t">
            <a:spAutoFit/>
          </a:bodyPr>
          <a:lstStyle/>
          <a:p>
            <a:pPr algn="l"/>
            <a:r>
              <a:rPr sz="1500" b="1">
                <a:solidFill>
                  <a:srgbClr val="F8FAFC"/>
                </a:solidFill>
                <a:latin typeface="Aptos"/>
              </a:rPr>
              <a:t>Specific model</a:t>
            </a:r>
          </a:p>
        </p:txBody>
      </p:sp>
      <p:sp>
        <p:nvSpPr>
          <p:cNvPr id="17" name="TextBox 16"/>
          <p:cNvSpPr txBox="1"/>
          <p:nvPr/>
        </p:nvSpPr>
        <p:spPr>
          <a:xfrm>
            <a:off x="8046720" y="2139696"/>
            <a:ext cx="3227832" cy="3657600"/>
          </a:xfrm>
          <a:prstGeom prst="rect">
            <a:avLst/>
          </a:prstGeom>
          <a:noFill/>
        </p:spPr>
        <p:txBody>
          <a:bodyPr wrap="square" anchor="t">
            <a:spAutoFit/>
          </a:bodyPr>
          <a:lstStyle/>
          <a:p>
            <a:pPr algn="l"/>
            <a:r>
              <a:rPr sz="1120" b="0">
                <a:solidFill>
                  <a:srgbClr val="B2C2D6"/>
                </a:solidFill>
                <a:latin typeface="Aptos"/>
              </a:rPr>
              <a:t>If a specific model is selected, that pipeline becomes the active predictor used for scoring and claim explanations.
This makes the demo interactive: the interviewer can switch algorithms and see the downstream results update.</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14 • SCORING</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Risk scoring</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active model converts engineered claim features into a probability and risk category.</a:t>
            </a:r>
          </a:p>
        </p:txBody>
      </p:sp>
      <p:sp>
        <p:nvSpPr>
          <p:cNvPr id="6" name="Rounded Rectangle 5"/>
          <p:cNvSpPr/>
          <p:nvPr/>
        </p:nvSpPr>
        <p:spPr>
          <a:xfrm>
            <a:off x="658368" y="1554480"/>
            <a:ext cx="5669280" cy="3474720"/>
          </a:xfrm>
          <a:prstGeom prst="roundRect">
            <a:avLst/>
          </a:prstGeom>
          <a:solidFill>
            <a:srgbClr val="030A13"/>
          </a:solidFill>
          <a:ln>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691639"/>
            <a:ext cx="5303520" cy="3200400"/>
          </a:xfrm>
          <a:prstGeom prst="rect">
            <a:avLst/>
          </a:prstGeom>
          <a:noFill/>
        </p:spPr>
        <p:txBody>
          <a:bodyPr wrap="square" anchor="t">
            <a:spAutoFit/>
          </a:bodyPr>
          <a:lstStyle/>
          <a:p>
            <a:pPr algn="l"/>
            <a:r>
              <a:rPr sz="1050" b="0">
                <a:solidFill>
                  <a:srgbClr val="BCDAF0"/>
                </a:solidFill>
                <a:latin typeface="Cascadia Mono"/>
              </a:rPr>
              <a:t>X_all = featured.drop(columns=[TARGET])
all_probs = active_pipe.predict_proba(X_all)[:, 1]
scored_all["Fraud Risk Probability"] = all_probs
scored_all["Predicted Risk"] = [
    risk_category(p) for p in all_probs
]</a:t>
            </a:r>
          </a:p>
        </p:txBody>
      </p:sp>
      <p:sp>
        <p:nvSpPr>
          <p:cNvPr id="8" name="Rounded Rectangle 7"/>
          <p:cNvSpPr/>
          <p:nvPr/>
        </p:nvSpPr>
        <p:spPr>
          <a:xfrm>
            <a:off x="6629400" y="1554480"/>
            <a:ext cx="4800600" cy="347472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1554480"/>
            <a:ext cx="50292" cy="347472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0568" y="1719072"/>
            <a:ext cx="4434840" cy="320040"/>
          </a:xfrm>
          <a:prstGeom prst="rect">
            <a:avLst/>
          </a:prstGeom>
          <a:noFill/>
        </p:spPr>
        <p:txBody>
          <a:bodyPr wrap="square" anchor="t">
            <a:spAutoFit/>
          </a:bodyPr>
          <a:lstStyle/>
          <a:p>
            <a:pPr algn="l"/>
            <a:r>
              <a:rPr sz="1500" b="1">
                <a:solidFill>
                  <a:srgbClr val="F8FAFC"/>
                </a:solidFill>
                <a:latin typeface="Aptos"/>
              </a:rPr>
              <a:t>Operational output</a:t>
            </a:r>
          </a:p>
        </p:txBody>
      </p:sp>
      <p:sp>
        <p:nvSpPr>
          <p:cNvPr id="11" name="TextBox 10"/>
          <p:cNvSpPr txBox="1"/>
          <p:nvPr/>
        </p:nvSpPr>
        <p:spPr>
          <a:xfrm>
            <a:off x="6830568" y="2121408"/>
            <a:ext cx="4416552" cy="2788920"/>
          </a:xfrm>
          <a:prstGeom prst="rect">
            <a:avLst/>
          </a:prstGeom>
          <a:noFill/>
        </p:spPr>
        <p:txBody>
          <a:bodyPr wrap="square" anchor="t">
            <a:spAutoFit/>
          </a:bodyPr>
          <a:lstStyle/>
          <a:p>
            <a:pPr algn="l"/>
            <a:r>
              <a:rPr sz="1120" b="0">
                <a:solidFill>
                  <a:srgbClr val="B2C2D6"/>
                </a:solidFill>
                <a:latin typeface="Aptos"/>
              </a:rPr>
              <a:t>Every claim receives:
• Fraud Risk Probability
• Predicted Risk: Low / Medium / High
• Engineered signals such as submission delay, claim-to-repair ratio, invoice variance and missing documents
The sidebar filter controls which categories appear in the investigator queue.</a:t>
            </a:r>
          </a:p>
        </p:txBody>
      </p:sp>
      <p:sp>
        <p:nvSpPr>
          <p:cNvPr id="12" name="TextBox 11"/>
          <p:cNvSpPr txBox="1"/>
          <p:nvPr/>
        </p:nvSpPr>
        <p:spPr>
          <a:xfrm>
            <a:off x="914400" y="5440680"/>
            <a:ext cx="9875520" cy="411480"/>
          </a:xfrm>
          <a:prstGeom prst="rect">
            <a:avLst/>
          </a:prstGeom>
          <a:noFill/>
        </p:spPr>
        <p:txBody>
          <a:bodyPr wrap="square" anchor="t">
            <a:spAutoFit/>
          </a:bodyPr>
          <a:lstStyle/>
          <a:p>
            <a:pPr algn="ctr"/>
            <a:r>
              <a:rPr sz="1800" b="1">
                <a:solidFill>
                  <a:srgbClr val="58C7FF"/>
                </a:solidFill>
                <a:latin typeface="Aptos"/>
              </a:rPr>
              <a:t>Probability → Category → Prioritized review</a:t>
            </a:r>
          </a:p>
        </p:txBody>
      </p:sp>
      <p:sp>
        <p:nvSpPr>
          <p:cNvPr id="13" name="TextBox 12"/>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4" name="TextBox 13"/>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15 • EDA</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Exploratory data analysis</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dedicated Graphs page turns engineered signals into visual patterns.</a:t>
            </a:r>
          </a:p>
        </p:txBody>
      </p:sp>
      <p:sp>
        <p:nvSpPr>
          <p:cNvPr id="6" name="Rounded Rectangle 5"/>
          <p:cNvSpPr/>
          <p:nvPr/>
        </p:nvSpPr>
        <p:spPr>
          <a:xfrm>
            <a:off x="594360" y="160020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00200"/>
            <a:ext cx="50292" cy="1627632"/>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764792"/>
            <a:ext cx="2148840" cy="320040"/>
          </a:xfrm>
          <a:prstGeom prst="rect">
            <a:avLst/>
          </a:prstGeom>
          <a:noFill/>
        </p:spPr>
        <p:txBody>
          <a:bodyPr wrap="square" anchor="t">
            <a:spAutoFit/>
          </a:bodyPr>
          <a:lstStyle/>
          <a:p>
            <a:pPr algn="l"/>
            <a:r>
              <a:rPr sz="1500" b="1">
                <a:solidFill>
                  <a:srgbClr val="F8FAFC"/>
                </a:solidFill>
                <a:latin typeface="Aptos"/>
              </a:rPr>
              <a:t>Label distribution</a:t>
            </a:r>
          </a:p>
        </p:txBody>
      </p:sp>
      <p:sp>
        <p:nvSpPr>
          <p:cNvPr id="9" name="TextBox 8"/>
          <p:cNvSpPr txBox="1"/>
          <p:nvPr/>
        </p:nvSpPr>
        <p:spPr>
          <a:xfrm>
            <a:off x="795528" y="2167128"/>
            <a:ext cx="2130552" cy="941832"/>
          </a:xfrm>
          <a:prstGeom prst="rect">
            <a:avLst/>
          </a:prstGeom>
          <a:noFill/>
        </p:spPr>
        <p:txBody>
          <a:bodyPr wrap="square" anchor="t">
            <a:spAutoFit/>
          </a:bodyPr>
          <a:lstStyle/>
          <a:p>
            <a:pPr algn="l"/>
            <a:r>
              <a:rPr sz="1120" b="0">
                <a:solidFill>
                  <a:srgbClr val="B2C2D6"/>
                </a:solidFill>
                <a:latin typeface="Aptos"/>
              </a:rPr>
              <a:t>Normal vs risk counts; highlights class imbalance.</a:t>
            </a:r>
          </a:p>
        </p:txBody>
      </p:sp>
      <p:sp>
        <p:nvSpPr>
          <p:cNvPr id="10" name="Rounded Rectangle 9"/>
          <p:cNvSpPr/>
          <p:nvPr/>
        </p:nvSpPr>
        <p:spPr>
          <a:xfrm>
            <a:off x="3474720" y="160020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1600200"/>
            <a:ext cx="50292" cy="1627632"/>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7" y="1764792"/>
            <a:ext cx="2148840" cy="320040"/>
          </a:xfrm>
          <a:prstGeom prst="rect">
            <a:avLst/>
          </a:prstGeom>
          <a:noFill/>
        </p:spPr>
        <p:txBody>
          <a:bodyPr wrap="square" anchor="t">
            <a:spAutoFit/>
          </a:bodyPr>
          <a:lstStyle/>
          <a:p>
            <a:pPr algn="l"/>
            <a:r>
              <a:rPr sz="1500" b="1">
                <a:solidFill>
                  <a:srgbClr val="F8FAFC"/>
                </a:solidFill>
                <a:latin typeface="Aptos"/>
              </a:rPr>
              <a:t>Submission delay</a:t>
            </a:r>
          </a:p>
        </p:txBody>
      </p:sp>
      <p:sp>
        <p:nvSpPr>
          <p:cNvPr id="13" name="TextBox 12"/>
          <p:cNvSpPr txBox="1"/>
          <p:nvPr/>
        </p:nvSpPr>
        <p:spPr>
          <a:xfrm>
            <a:off x="3675887" y="2167128"/>
            <a:ext cx="2130552" cy="941832"/>
          </a:xfrm>
          <a:prstGeom prst="rect">
            <a:avLst/>
          </a:prstGeom>
          <a:noFill/>
        </p:spPr>
        <p:txBody>
          <a:bodyPr wrap="square" anchor="t">
            <a:spAutoFit/>
          </a:bodyPr>
          <a:lstStyle/>
          <a:p>
            <a:pPr algn="l"/>
            <a:r>
              <a:rPr sz="1120" b="0">
                <a:solidFill>
                  <a:srgbClr val="B2C2D6"/>
                </a:solidFill>
                <a:latin typeface="Aptos"/>
              </a:rPr>
              <a:t>Average days to submit by label.</a:t>
            </a:r>
          </a:p>
        </p:txBody>
      </p:sp>
      <p:sp>
        <p:nvSpPr>
          <p:cNvPr id="14" name="Rounded Rectangle 13"/>
          <p:cNvSpPr/>
          <p:nvPr/>
        </p:nvSpPr>
        <p:spPr>
          <a:xfrm>
            <a:off x="6355080" y="160020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1600200"/>
            <a:ext cx="50292" cy="1627632"/>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6248" y="1764792"/>
            <a:ext cx="2148840" cy="320040"/>
          </a:xfrm>
          <a:prstGeom prst="rect">
            <a:avLst/>
          </a:prstGeom>
          <a:noFill/>
        </p:spPr>
        <p:txBody>
          <a:bodyPr wrap="square" anchor="t">
            <a:spAutoFit/>
          </a:bodyPr>
          <a:lstStyle/>
          <a:p>
            <a:pPr algn="l"/>
            <a:r>
              <a:rPr sz="1500" b="1">
                <a:solidFill>
                  <a:srgbClr val="F8FAFC"/>
                </a:solidFill>
                <a:latin typeface="Aptos"/>
              </a:rPr>
              <a:t>Previous claims</a:t>
            </a:r>
          </a:p>
        </p:txBody>
      </p:sp>
      <p:sp>
        <p:nvSpPr>
          <p:cNvPr id="17" name="TextBox 16"/>
          <p:cNvSpPr txBox="1"/>
          <p:nvPr/>
        </p:nvSpPr>
        <p:spPr>
          <a:xfrm>
            <a:off x="6556248" y="2167128"/>
            <a:ext cx="2130552" cy="941832"/>
          </a:xfrm>
          <a:prstGeom prst="rect">
            <a:avLst/>
          </a:prstGeom>
          <a:noFill/>
        </p:spPr>
        <p:txBody>
          <a:bodyPr wrap="square" anchor="t">
            <a:spAutoFit/>
          </a:bodyPr>
          <a:lstStyle/>
          <a:p>
            <a:pPr algn="l"/>
            <a:r>
              <a:rPr sz="1120" b="0">
                <a:solidFill>
                  <a:srgbClr val="B2C2D6"/>
                </a:solidFill>
                <a:latin typeface="Aptos"/>
              </a:rPr>
              <a:t>Average previous claim count by label.</a:t>
            </a:r>
          </a:p>
        </p:txBody>
      </p:sp>
      <p:sp>
        <p:nvSpPr>
          <p:cNvPr id="18" name="Rounded Rectangle 17"/>
          <p:cNvSpPr/>
          <p:nvPr/>
        </p:nvSpPr>
        <p:spPr>
          <a:xfrm>
            <a:off x="9235440" y="160020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35440" y="1600200"/>
            <a:ext cx="50292" cy="1627632"/>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6608" y="1764792"/>
            <a:ext cx="2148840" cy="320040"/>
          </a:xfrm>
          <a:prstGeom prst="rect">
            <a:avLst/>
          </a:prstGeom>
          <a:noFill/>
        </p:spPr>
        <p:txBody>
          <a:bodyPr wrap="square" anchor="t">
            <a:spAutoFit/>
          </a:bodyPr>
          <a:lstStyle/>
          <a:p>
            <a:pPr algn="l"/>
            <a:r>
              <a:rPr sz="1500" b="1">
                <a:solidFill>
                  <a:srgbClr val="F8FAFC"/>
                </a:solidFill>
                <a:latin typeface="Aptos"/>
              </a:rPr>
              <a:t>Claim size vs invoice variance</a:t>
            </a:r>
          </a:p>
        </p:txBody>
      </p:sp>
      <p:sp>
        <p:nvSpPr>
          <p:cNvPr id="21" name="TextBox 20"/>
          <p:cNvSpPr txBox="1"/>
          <p:nvPr/>
        </p:nvSpPr>
        <p:spPr>
          <a:xfrm>
            <a:off x="9436608" y="2167128"/>
            <a:ext cx="2130552" cy="941832"/>
          </a:xfrm>
          <a:prstGeom prst="rect">
            <a:avLst/>
          </a:prstGeom>
          <a:noFill/>
        </p:spPr>
        <p:txBody>
          <a:bodyPr wrap="square" anchor="t">
            <a:spAutoFit/>
          </a:bodyPr>
          <a:lstStyle/>
          <a:p>
            <a:pPr algn="l"/>
            <a:r>
              <a:rPr sz="1120" b="0">
                <a:solidFill>
                  <a:srgbClr val="B2C2D6"/>
                </a:solidFill>
                <a:latin typeface="Aptos"/>
              </a:rPr>
              <a:t>Scatter plot separating normal and risk labels.</a:t>
            </a:r>
          </a:p>
        </p:txBody>
      </p:sp>
      <p:sp>
        <p:nvSpPr>
          <p:cNvPr id="22" name="Rounded Rectangle 21"/>
          <p:cNvSpPr/>
          <p:nvPr/>
        </p:nvSpPr>
        <p:spPr>
          <a:xfrm>
            <a:off x="594360" y="370332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703320"/>
            <a:ext cx="50292" cy="162763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3867911"/>
            <a:ext cx="2148840" cy="320040"/>
          </a:xfrm>
          <a:prstGeom prst="rect">
            <a:avLst/>
          </a:prstGeom>
          <a:noFill/>
        </p:spPr>
        <p:txBody>
          <a:bodyPr wrap="square" anchor="t">
            <a:spAutoFit/>
          </a:bodyPr>
          <a:lstStyle/>
          <a:p>
            <a:pPr algn="l"/>
            <a:r>
              <a:rPr sz="1500" b="1">
                <a:solidFill>
                  <a:srgbClr val="F8FAFC"/>
                </a:solidFill>
                <a:latin typeface="Aptos"/>
              </a:rPr>
              <a:t>Policy tenure</a:t>
            </a:r>
          </a:p>
        </p:txBody>
      </p:sp>
      <p:sp>
        <p:nvSpPr>
          <p:cNvPr id="25" name="TextBox 24"/>
          <p:cNvSpPr txBox="1"/>
          <p:nvPr/>
        </p:nvSpPr>
        <p:spPr>
          <a:xfrm>
            <a:off x="795528" y="4270248"/>
            <a:ext cx="2130552" cy="941832"/>
          </a:xfrm>
          <a:prstGeom prst="rect">
            <a:avLst/>
          </a:prstGeom>
          <a:noFill/>
        </p:spPr>
        <p:txBody>
          <a:bodyPr wrap="square" anchor="t">
            <a:spAutoFit/>
          </a:bodyPr>
          <a:lstStyle/>
          <a:p>
            <a:pPr algn="l"/>
            <a:r>
              <a:rPr sz="1120" b="0">
                <a:solidFill>
                  <a:srgbClr val="B2C2D6"/>
                </a:solidFill>
                <a:latin typeface="Aptos"/>
              </a:rPr>
              <a:t>Risk rate across tenure bands.</a:t>
            </a:r>
          </a:p>
        </p:txBody>
      </p:sp>
      <p:sp>
        <p:nvSpPr>
          <p:cNvPr id="26" name="Rounded Rectangle 25"/>
          <p:cNvSpPr/>
          <p:nvPr/>
        </p:nvSpPr>
        <p:spPr>
          <a:xfrm>
            <a:off x="3474720" y="370332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0" y="3703320"/>
            <a:ext cx="50292" cy="1627632"/>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7" y="3867911"/>
            <a:ext cx="2148840" cy="320040"/>
          </a:xfrm>
          <a:prstGeom prst="rect">
            <a:avLst/>
          </a:prstGeom>
          <a:noFill/>
        </p:spPr>
        <p:txBody>
          <a:bodyPr wrap="square" anchor="t">
            <a:spAutoFit/>
          </a:bodyPr>
          <a:lstStyle/>
          <a:p>
            <a:pPr algn="l"/>
            <a:r>
              <a:rPr sz="1500" b="1">
                <a:solidFill>
                  <a:srgbClr val="F8FAFC"/>
                </a:solidFill>
                <a:latin typeface="Aptos"/>
              </a:rPr>
              <a:t>Invoice variance</a:t>
            </a:r>
          </a:p>
        </p:txBody>
      </p:sp>
      <p:sp>
        <p:nvSpPr>
          <p:cNvPr id="29" name="TextBox 28"/>
          <p:cNvSpPr txBox="1"/>
          <p:nvPr/>
        </p:nvSpPr>
        <p:spPr>
          <a:xfrm>
            <a:off x="3675887" y="4270248"/>
            <a:ext cx="2130552" cy="941832"/>
          </a:xfrm>
          <a:prstGeom prst="rect">
            <a:avLst/>
          </a:prstGeom>
          <a:noFill/>
        </p:spPr>
        <p:txBody>
          <a:bodyPr wrap="square" anchor="t">
            <a:spAutoFit/>
          </a:bodyPr>
          <a:lstStyle/>
          <a:p>
            <a:pPr algn="l"/>
            <a:r>
              <a:rPr sz="1120" b="0">
                <a:solidFill>
                  <a:srgbClr val="B2C2D6"/>
                </a:solidFill>
                <a:latin typeface="Aptos"/>
              </a:rPr>
              <a:t>Average invoice variance by label.</a:t>
            </a:r>
          </a:p>
        </p:txBody>
      </p:sp>
      <p:sp>
        <p:nvSpPr>
          <p:cNvPr id="30" name="Rounded Rectangle 29"/>
          <p:cNvSpPr/>
          <p:nvPr/>
        </p:nvSpPr>
        <p:spPr>
          <a:xfrm>
            <a:off x="6355080" y="3703320"/>
            <a:ext cx="2514600" cy="162763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55080" y="3703320"/>
            <a:ext cx="50292" cy="1627632"/>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6248" y="3867911"/>
            <a:ext cx="2148840" cy="320040"/>
          </a:xfrm>
          <a:prstGeom prst="rect">
            <a:avLst/>
          </a:prstGeom>
          <a:noFill/>
        </p:spPr>
        <p:txBody>
          <a:bodyPr wrap="square" anchor="t">
            <a:spAutoFit/>
          </a:bodyPr>
          <a:lstStyle/>
          <a:p>
            <a:pPr algn="l"/>
            <a:r>
              <a:rPr sz="1500" b="1">
                <a:solidFill>
                  <a:srgbClr val="F8FAFC"/>
                </a:solidFill>
                <a:latin typeface="Aptos"/>
              </a:rPr>
              <a:t>Risk probability</a:t>
            </a:r>
          </a:p>
        </p:txBody>
      </p:sp>
      <p:sp>
        <p:nvSpPr>
          <p:cNvPr id="33" name="TextBox 32"/>
          <p:cNvSpPr txBox="1"/>
          <p:nvPr/>
        </p:nvSpPr>
        <p:spPr>
          <a:xfrm>
            <a:off x="6556248" y="4270248"/>
            <a:ext cx="2130552" cy="941832"/>
          </a:xfrm>
          <a:prstGeom prst="rect">
            <a:avLst/>
          </a:prstGeom>
          <a:noFill/>
        </p:spPr>
        <p:txBody>
          <a:bodyPr wrap="square" anchor="t">
            <a:spAutoFit/>
          </a:bodyPr>
          <a:lstStyle/>
          <a:p>
            <a:pPr algn="l"/>
            <a:r>
              <a:rPr sz="1120" b="0">
                <a:solidFill>
                  <a:srgbClr val="B2C2D6"/>
                </a:solidFill>
                <a:latin typeface="Aptos"/>
              </a:rPr>
              <a:t>Histogram of predicted risk probabilities.</a:t>
            </a:r>
          </a:p>
        </p:txBody>
      </p:sp>
      <p:sp>
        <p:nvSpPr>
          <p:cNvPr id="34" name="TextBox 33"/>
          <p:cNvSpPr txBox="1"/>
          <p:nvPr/>
        </p:nvSpPr>
        <p:spPr>
          <a:xfrm>
            <a:off x="658368" y="5623560"/>
            <a:ext cx="10789920" cy="411480"/>
          </a:xfrm>
          <a:prstGeom prst="rect">
            <a:avLst/>
          </a:prstGeom>
          <a:noFill/>
        </p:spPr>
        <p:txBody>
          <a:bodyPr wrap="square" anchor="t">
            <a:spAutoFit/>
          </a:bodyPr>
          <a:lstStyle/>
          <a:p>
            <a:pPr algn="l"/>
            <a:r>
              <a:rPr sz="1250" b="1">
                <a:solidFill>
                  <a:srgbClr val="F5B446"/>
                </a:solidFill>
                <a:latin typeface="Aptos"/>
              </a:rPr>
              <a:t>Interpretation rule: correlation or separation is a signal to investigate, not evidence that a claim is fraudulent.</a:t>
            </a:r>
          </a:p>
        </p:txBody>
      </p:sp>
      <p:sp>
        <p:nvSpPr>
          <p:cNvPr id="35" name="TextBox 34"/>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36" name="TextBox 35"/>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16 • RESULTS</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Tables &amp; investigator queue</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Tables page is designed for inspection, filtering and export.</a:t>
            </a:r>
          </a:p>
        </p:txBody>
      </p:sp>
      <p:sp>
        <p:nvSpPr>
          <p:cNvPr id="6" name="Rounded Rectangle 5"/>
          <p:cNvSpPr/>
          <p:nvPr/>
        </p:nvSpPr>
        <p:spPr>
          <a:xfrm>
            <a:off x="658368" y="1572768"/>
            <a:ext cx="3383280" cy="42976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72768"/>
            <a:ext cx="50292" cy="429768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37360"/>
            <a:ext cx="3017520" cy="320040"/>
          </a:xfrm>
          <a:prstGeom prst="rect">
            <a:avLst/>
          </a:prstGeom>
          <a:noFill/>
        </p:spPr>
        <p:txBody>
          <a:bodyPr wrap="square" anchor="t">
            <a:spAutoFit/>
          </a:bodyPr>
          <a:lstStyle/>
          <a:p>
            <a:pPr algn="l"/>
            <a:r>
              <a:rPr sz="1500" b="1">
                <a:solidFill>
                  <a:srgbClr val="F8FAFC"/>
                </a:solidFill>
                <a:latin typeface="Aptos"/>
              </a:rPr>
              <a:t>1. Data quality</a:t>
            </a:r>
          </a:p>
        </p:txBody>
      </p:sp>
      <p:sp>
        <p:nvSpPr>
          <p:cNvPr id="9" name="TextBox 8"/>
          <p:cNvSpPr txBox="1"/>
          <p:nvPr/>
        </p:nvSpPr>
        <p:spPr>
          <a:xfrm>
            <a:off x="859536" y="2139696"/>
            <a:ext cx="2999232" cy="3611880"/>
          </a:xfrm>
          <a:prstGeom prst="rect">
            <a:avLst/>
          </a:prstGeom>
          <a:noFill/>
        </p:spPr>
        <p:txBody>
          <a:bodyPr wrap="square" anchor="t">
            <a:spAutoFit/>
          </a:bodyPr>
          <a:lstStyle/>
          <a:p>
            <a:pPr algn="l"/>
            <a:r>
              <a:rPr sz="1120" b="0">
                <a:solidFill>
                  <a:srgbClr val="B2C2D6"/>
                </a:solidFill>
                <a:latin typeface="Aptos"/>
              </a:rPr>
              <a:t>Missing values by column
Duplicate rows removed
Useful for validating the input before trusting model output.</a:t>
            </a:r>
          </a:p>
        </p:txBody>
      </p:sp>
      <p:sp>
        <p:nvSpPr>
          <p:cNvPr id="10" name="Rounded Rectangle 9"/>
          <p:cNvSpPr/>
          <p:nvPr/>
        </p:nvSpPr>
        <p:spPr>
          <a:xfrm>
            <a:off x="4389120" y="1572768"/>
            <a:ext cx="3383280" cy="42976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50292" cy="429768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737360"/>
            <a:ext cx="3017520" cy="320040"/>
          </a:xfrm>
          <a:prstGeom prst="rect">
            <a:avLst/>
          </a:prstGeom>
          <a:noFill/>
        </p:spPr>
        <p:txBody>
          <a:bodyPr wrap="square" anchor="t">
            <a:spAutoFit/>
          </a:bodyPr>
          <a:lstStyle/>
          <a:p>
            <a:pPr algn="l"/>
            <a:r>
              <a:rPr sz="1500" b="1">
                <a:solidFill>
                  <a:srgbClr val="F8FAFC"/>
                </a:solidFill>
                <a:latin typeface="Aptos"/>
              </a:rPr>
              <a:t>2. Model comparison</a:t>
            </a:r>
          </a:p>
        </p:txBody>
      </p:sp>
      <p:sp>
        <p:nvSpPr>
          <p:cNvPr id="13" name="TextBox 12"/>
          <p:cNvSpPr txBox="1"/>
          <p:nvPr/>
        </p:nvSpPr>
        <p:spPr>
          <a:xfrm>
            <a:off x="4590288" y="2139696"/>
            <a:ext cx="2999232" cy="3611880"/>
          </a:xfrm>
          <a:prstGeom prst="rect">
            <a:avLst/>
          </a:prstGeom>
          <a:noFill/>
        </p:spPr>
        <p:txBody>
          <a:bodyPr wrap="square" anchor="t">
            <a:spAutoFit/>
          </a:bodyPr>
          <a:lstStyle/>
          <a:p>
            <a:pPr algn="l"/>
            <a:r>
              <a:rPr sz="1120" b="0">
                <a:solidFill>
                  <a:srgbClr val="B2C2D6"/>
                </a:solidFill>
                <a:latin typeface="Aptos"/>
              </a:rPr>
              <a:t>Comparison metrics are sortable by the selected sidebar metric.
Active algorithm is displayed explicitly.</a:t>
            </a:r>
          </a:p>
        </p:txBody>
      </p:sp>
      <p:sp>
        <p:nvSpPr>
          <p:cNvPr id="14" name="Rounded Rectangle 13"/>
          <p:cNvSpPr/>
          <p:nvPr/>
        </p:nvSpPr>
        <p:spPr>
          <a:xfrm>
            <a:off x="8119872" y="1572768"/>
            <a:ext cx="3383280" cy="429768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19872" y="1572768"/>
            <a:ext cx="50292" cy="429768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737360"/>
            <a:ext cx="3017520" cy="320040"/>
          </a:xfrm>
          <a:prstGeom prst="rect">
            <a:avLst/>
          </a:prstGeom>
          <a:noFill/>
        </p:spPr>
        <p:txBody>
          <a:bodyPr wrap="square" anchor="t">
            <a:spAutoFit/>
          </a:bodyPr>
          <a:lstStyle/>
          <a:p>
            <a:pPr algn="l"/>
            <a:r>
              <a:rPr sz="1500" b="1">
                <a:solidFill>
                  <a:srgbClr val="F8FAFC"/>
                </a:solidFill>
                <a:latin typeface="Aptos"/>
              </a:rPr>
              <a:t>3–5. Risk &amp; export</a:t>
            </a:r>
          </a:p>
        </p:txBody>
      </p:sp>
      <p:sp>
        <p:nvSpPr>
          <p:cNvPr id="17" name="TextBox 16"/>
          <p:cNvSpPr txBox="1"/>
          <p:nvPr/>
        </p:nvSpPr>
        <p:spPr>
          <a:xfrm>
            <a:off x="8321040" y="2139696"/>
            <a:ext cx="2999232" cy="3611880"/>
          </a:xfrm>
          <a:prstGeom prst="rect">
            <a:avLst/>
          </a:prstGeom>
          <a:noFill/>
        </p:spPr>
        <p:txBody>
          <a:bodyPr wrap="square" anchor="t">
            <a:spAutoFit/>
          </a:bodyPr>
          <a:lstStyle/>
          <a:p>
            <a:pPr algn="l"/>
            <a:r>
              <a:rPr sz="1120" b="0">
                <a:solidFill>
                  <a:srgbClr val="B2C2D6"/>
                </a:solidFill>
                <a:latin typeface="Aptos"/>
              </a:rPr>
              <a:t>Top risk-rate segments by incident type.
Scored claims sorted by risk probability.
Download all scored claims as CSV.</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17 • XAI</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SHAP explainability</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system explains an individual prediction instead of showing only a black-box probability.</a:t>
            </a:r>
          </a:p>
        </p:txBody>
      </p:sp>
      <p:sp>
        <p:nvSpPr>
          <p:cNvPr id="6" name="Rounded Rectangle 5"/>
          <p:cNvSpPr/>
          <p:nvPr/>
        </p:nvSpPr>
        <p:spPr>
          <a:xfrm>
            <a:off x="658368" y="1572768"/>
            <a:ext cx="333756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72768"/>
            <a:ext cx="50292" cy="434340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37360"/>
            <a:ext cx="2971800" cy="320040"/>
          </a:xfrm>
          <a:prstGeom prst="rect">
            <a:avLst/>
          </a:prstGeom>
          <a:noFill/>
        </p:spPr>
        <p:txBody>
          <a:bodyPr wrap="square" anchor="t">
            <a:spAutoFit/>
          </a:bodyPr>
          <a:lstStyle/>
          <a:p>
            <a:pPr algn="l"/>
            <a:r>
              <a:rPr sz="1500" b="1">
                <a:solidFill>
                  <a:srgbClr val="F8FAFC"/>
                </a:solidFill>
                <a:latin typeface="Aptos"/>
              </a:rPr>
              <a:t>What SHAP provides</a:t>
            </a:r>
          </a:p>
        </p:txBody>
      </p:sp>
      <p:sp>
        <p:nvSpPr>
          <p:cNvPr id="9" name="TextBox 8"/>
          <p:cNvSpPr txBox="1"/>
          <p:nvPr/>
        </p:nvSpPr>
        <p:spPr>
          <a:xfrm>
            <a:off x="859536" y="2139696"/>
            <a:ext cx="2953512" cy="3657600"/>
          </a:xfrm>
          <a:prstGeom prst="rect">
            <a:avLst/>
          </a:prstGeom>
          <a:noFill/>
        </p:spPr>
        <p:txBody>
          <a:bodyPr wrap="square" anchor="t">
            <a:spAutoFit/>
          </a:bodyPr>
          <a:lstStyle/>
          <a:p>
            <a:pPr algn="l"/>
            <a:r>
              <a:rPr sz="1120" b="0">
                <a:solidFill>
                  <a:srgbClr val="B2C2D6"/>
                </a:solidFill>
                <a:latin typeface="Aptos"/>
              </a:rPr>
              <a:t>For a selected claim, top_contributors() identifies features that contributed to the prediction.
Positive contribution → pushes model risk higher.
Negative contribution → pushes model risk lower.</a:t>
            </a:r>
          </a:p>
        </p:txBody>
      </p:sp>
      <p:sp>
        <p:nvSpPr>
          <p:cNvPr id="10" name="Rounded Rectangle 9"/>
          <p:cNvSpPr/>
          <p:nvPr/>
        </p:nvSpPr>
        <p:spPr>
          <a:xfrm>
            <a:off x="4407408" y="1572768"/>
            <a:ext cx="333756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572768"/>
            <a:ext cx="50292" cy="434340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71800" cy="320040"/>
          </a:xfrm>
          <a:prstGeom prst="rect">
            <a:avLst/>
          </a:prstGeom>
          <a:noFill/>
        </p:spPr>
        <p:txBody>
          <a:bodyPr wrap="square" anchor="t">
            <a:spAutoFit/>
          </a:bodyPr>
          <a:lstStyle/>
          <a:p>
            <a:pPr algn="l"/>
            <a:r>
              <a:rPr sz="1500" b="1">
                <a:solidFill>
                  <a:srgbClr val="F8FAFC"/>
                </a:solidFill>
                <a:latin typeface="Aptos"/>
              </a:rPr>
              <a:t>What the UI shows</a:t>
            </a:r>
          </a:p>
        </p:txBody>
      </p:sp>
      <p:sp>
        <p:nvSpPr>
          <p:cNvPr id="13" name="TextBox 12"/>
          <p:cNvSpPr txBox="1"/>
          <p:nvPr/>
        </p:nvSpPr>
        <p:spPr>
          <a:xfrm>
            <a:off x="4608576" y="2139696"/>
            <a:ext cx="2953512" cy="3657600"/>
          </a:xfrm>
          <a:prstGeom prst="rect">
            <a:avLst/>
          </a:prstGeom>
          <a:noFill/>
        </p:spPr>
        <p:txBody>
          <a:bodyPr wrap="square" anchor="t">
            <a:spAutoFit/>
          </a:bodyPr>
          <a:lstStyle/>
          <a:p>
            <a:pPr algn="l"/>
            <a:r>
              <a:rPr sz="1120" b="0">
                <a:solidFill>
                  <a:srgbClr val="B2C2D6"/>
                </a:solidFill>
                <a:latin typeface="Aptos"/>
              </a:rPr>
              <a:t>Selected claim
Risk probability
Low / Medium / High category
Main contributing factors with signed contribution values.</a:t>
            </a:r>
          </a:p>
        </p:txBody>
      </p:sp>
      <p:sp>
        <p:nvSpPr>
          <p:cNvPr id="14" name="Rounded Rectangle 13"/>
          <p:cNvSpPr/>
          <p:nvPr/>
        </p:nvSpPr>
        <p:spPr>
          <a:xfrm>
            <a:off x="8156448" y="1572768"/>
            <a:ext cx="333756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6448" y="1572768"/>
            <a:ext cx="50292" cy="43434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1737360"/>
            <a:ext cx="2971800" cy="320040"/>
          </a:xfrm>
          <a:prstGeom prst="rect">
            <a:avLst/>
          </a:prstGeom>
          <a:noFill/>
        </p:spPr>
        <p:txBody>
          <a:bodyPr wrap="square" anchor="t">
            <a:spAutoFit/>
          </a:bodyPr>
          <a:lstStyle/>
          <a:p>
            <a:pPr algn="l"/>
            <a:r>
              <a:rPr sz="1500" b="1">
                <a:solidFill>
                  <a:srgbClr val="F8FAFC"/>
                </a:solidFill>
                <a:latin typeface="Aptos"/>
              </a:rPr>
              <a:t>Critical limitation</a:t>
            </a:r>
          </a:p>
        </p:txBody>
      </p:sp>
      <p:sp>
        <p:nvSpPr>
          <p:cNvPr id="17" name="TextBox 16"/>
          <p:cNvSpPr txBox="1"/>
          <p:nvPr/>
        </p:nvSpPr>
        <p:spPr>
          <a:xfrm>
            <a:off x="8357616" y="2139696"/>
            <a:ext cx="2953512" cy="3657600"/>
          </a:xfrm>
          <a:prstGeom prst="rect">
            <a:avLst/>
          </a:prstGeom>
          <a:noFill/>
        </p:spPr>
        <p:txBody>
          <a:bodyPr wrap="square" anchor="t">
            <a:spAutoFit/>
          </a:bodyPr>
          <a:lstStyle/>
          <a:p>
            <a:pPr algn="l"/>
            <a:r>
              <a:rPr sz="1120" b="0">
                <a:solidFill>
                  <a:srgbClr val="B2C2D6"/>
                </a:solidFill>
                <a:latin typeface="Aptos"/>
              </a:rPr>
              <a:t>SHAP explains the model prediction.
It does not prove fraud.
The explanation is a decision-support artifact for a human investigator.</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18 • GENAI</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Generative AI with Gemini</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Gemini is used as a language layer after the ML model and SHAP analysis.</a:t>
            </a:r>
          </a:p>
        </p:txBody>
      </p:sp>
      <p:sp>
        <p:nvSpPr>
          <p:cNvPr id="6" name="Rounded Rectangle 5"/>
          <p:cNvSpPr/>
          <p:nvPr/>
        </p:nvSpPr>
        <p:spPr>
          <a:xfrm>
            <a:off x="658368" y="1572768"/>
            <a:ext cx="338328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72768"/>
            <a:ext cx="50292" cy="434340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37360"/>
            <a:ext cx="3017520" cy="320040"/>
          </a:xfrm>
          <a:prstGeom prst="rect">
            <a:avLst/>
          </a:prstGeom>
          <a:noFill/>
        </p:spPr>
        <p:txBody>
          <a:bodyPr wrap="square" anchor="t">
            <a:spAutoFit/>
          </a:bodyPr>
          <a:lstStyle/>
          <a:p>
            <a:pPr algn="l"/>
            <a:r>
              <a:rPr sz="1500" b="1">
                <a:solidFill>
                  <a:srgbClr val="F8FAFC"/>
                </a:solidFill>
                <a:latin typeface="Aptos"/>
              </a:rPr>
              <a:t>Inputs to Gemini</a:t>
            </a:r>
          </a:p>
        </p:txBody>
      </p:sp>
      <p:sp>
        <p:nvSpPr>
          <p:cNvPr id="9" name="TextBox 8"/>
          <p:cNvSpPr txBox="1"/>
          <p:nvPr/>
        </p:nvSpPr>
        <p:spPr>
          <a:xfrm>
            <a:off x="859536" y="2139696"/>
            <a:ext cx="2999232" cy="3657600"/>
          </a:xfrm>
          <a:prstGeom prst="rect">
            <a:avLst/>
          </a:prstGeom>
          <a:noFill/>
        </p:spPr>
        <p:txBody>
          <a:bodyPr wrap="square" anchor="t">
            <a:spAutoFit/>
          </a:bodyPr>
          <a:lstStyle/>
          <a:p>
            <a:pPr algn="l"/>
            <a:r>
              <a:rPr sz="1120" b="0">
                <a:solidFill>
                  <a:srgbClr val="B2C2D6"/>
                </a:solidFill>
                <a:latin typeface="Aptos"/>
              </a:rPr>
              <a:t>The prompt contains supplied claim facts and model-derived risk information such as:
• Claim ID
• risk probability/category
• claim amount
• repair estimate
• final invoice
• days to submit
• previous claims
• incident type
• policy tenure
• police report
• witness availability</a:t>
            </a:r>
          </a:p>
        </p:txBody>
      </p:sp>
      <p:sp>
        <p:nvSpPr>
          <p:cNvPr id="10" name="Rounded Rectangle 9"/>
          <p:cNvSpPr/>
          <p:nvPr/>
        </p:nvSpPr>
        <p:spPr>
          <a:xfrm>
            <a:off x="4407408" y="1572768"/>
            <a:ext cx="338328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572768"/>
            <a:ext cx="50292" cy="434340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3017520" cy="320040"/>
          </a:xfrm>
          <a:prstGeom prst="rect">
            <a:avLst/>
          </a:prstGeom>
          <a:noFill/>
        </p:spPr>
        <p:txBody>
          <a:bodyPr wrap="square" anchor="t">
            <a:spAutoFit/>
          </a:bodyPr>
          <a:lstStyle/>
          <a:p>
            <a:pPr algn="l"/>
            <a:r>
              <a:rPr sz="1500" b="1">
                <a:solidFill>
                  <a:srgbClr val="F8FAFC"/>
                </a:solidFill>
                <a:latin typeface="Aptos"/>
              </a:rPr>
              <a:t>Prompt guardrails</a:t>
            </a:r>
          </a:p>
        </p:txBody>
      </p:sp>
      <p:sp>
        <p:nvSpPr>
          <p:cNvPr id="13" name="TextBox 12"/>
          <p:cNvSpPr txBox="1"/>
          <p:nvPr/>
        </p:nvSpPr>
        <p:spPr>
          <a:xfrm>
            <a:off x="4608576" y="2139696"/>
            <a:ext cx="2999232" cy="3657600"/>
          </a:xfrm>
          <a:prstGeom prst="rect">
            <a:avLst/>
          </a:prstGeom>
          <a:noFill/>
        </p:spPr>
        <p:txBody>
          <a:bodyPr wrap="square" anchor="t">
            <a:spAutoFit/>
          </a:bodyPr>
          <a:lstStyle/>
          <a:p>
            <a:pPr algn="l"/>
            <a:r>
              <a:rPr sz="1120" b="0">
                <a:solidFill>
                  <a:srgbClr val="B2C2D6"/>
                </a:solidFill>
                <a:latin typeface="Aptos"/>
              </a:rPr>
              <a:t>The prompt instructs Gemini to:
• use only supplied facts
• avoid invented facts
• not state that fraud is proven
• not make the final claim decision
• describe information as risk signals
• recommend human review</a:t>
            </a:r>
          </a:p>
        </p:txBody>
      </p:sp>
      <p:sp>
        <p:nvSpPr>
          <p:cNvPr id="14" name="Rounded Rectangle 13"/>
          <p:cNvSpPr/>
          <p:nvPr/>
        </p:nvSpPr>
        <p:spPr>
          <a:xfrm>
            <a:off x="8156448" y="1572768"/>
            <a:ext cx="3383280" cy="43434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6448" y="1572768"/>
            <a:ext cx="50292" cy="434340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1737360"/>
            <a:ext cx="3017520" cy="320040"/>
          </a:xfrm>
          <a:prstGeom prst="rect">
            <a:avLst/>
          </a:prstGeom>
          <a:noFill/>
        </p:spPr>
        <p:txBody>
          <a:bodyPr wrap="square" anchor="t">
            <a:spAutoFit/>
          </a:bodyPr>
          <a:lstStyle/>
          <a:p>
            <a:pPr algn="l"/>
            <a:r>
              <a:rPr sz="1500" b="1">
                <a:solidFill>
                  <a:srgbClr val="F8FAFC"/>
                </a:solidFill>
                <a:latin typeface="Aptos"/>
              </a:rPr>
              <a:t>Fallback design</a:t>
            </a:r>
          </a:p>
        </p:txBody>
      </p:sp>
      <p:sp>
        <p:nvSpPr>
          <p:cNvPr id="17" name="TextBox 16"/>
          <p:cNvSpPr txBox="1"/>
          <p:nvPr/>
        </p:nvSpPr>
        <p:spPr>
          <a:xfrm>
            <a:off x="8357616" y="2139696"/>
            <a:ext cx="2999232" cy="3657600"/>
          </a:xfrm>
          <a:prstGeom prst="rect">
            <a:avLst/>
          </a:prstGeom>
          <a:noFill/>
        </p:spPr>
        <p:txBody>
          <a:bodyPr wrap="square" anchor="t">
            <a:spAutoFit/>
          </a:bodyPr>
          <a:lstStyle/>
          <a:p>
            <a:pPr algn="l"/>
            <a:r>
              <a:rPr sz="1120" b="0">
                <a:solidFill>
                  <a:srgbClr val="B2C2D6"/>
                </a:solidFill>
                <a:latin typeface="Aptos"/>
              </a:rPr>
              <a:t>If the API key is missing or the call fails, the application shows a deterministic safe explanation instead.
This prevents the investigation screen from becoming unusable just because the GenAI service is unavailable.</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19 • WORKFLOW</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End-to-end workflow</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complete decision-support pipeline from raw claims to human review.</a:t>
            </a:r>
          </a:p>
        </p:txBody>
      </p:sp>
      <p:sp>
        <p:nvSpPr>
          <p:cNvPr id="6" name="Rounded Rectangle 5"/>
          <p:cNvSpPr/>
          <p:nvPr/>
        </p:nvSpPr>
        <p:spPr>
          <a:xfrm>
            <a:off x="594360" y="1691640"/>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91640"/>
            <a:ext cx="50292" cy="114300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856232"/>
            <a:ext cx="1600200" cy="320040"/>
          </a:xfrm>
          <a:prstGeom prst="rect">
            <a:avLst/>
          </a:prstGeom>
          <a:noFill/>
        </p:spPr>
        <p:txBody>
          <a:bodyPr wrap="square" anchor="t">
            <a:spAutoFit/>
          </a:bodyPr>
          <a:lstStyle/>
          <a:p>
            <a:pPr algn="l"/>
            <a:r>
              <a:rPr sz="1500" b="1">
                <a:solidFill>
                  <a:srgbClr val="F8FAFC"/>
                </a:solidFill>
                <a:latin typeface="Aptos"/>
              </a:rPr>
              <a:t>Claims</a:t>
            </a:r>
          </a:p>
        </p:txBody>
      </p:sp>
      <p:cxnSp>
        <p:nvCxnSpPr>
          <p:cNvPr id="9" name="Connector 8"/>
          <p:cNvCxnSpPr/>
          <p:nvPr/>
        </p:nvCxnSpPr>
        <p:spPr>
          <a:xfrm>
            <a:off x="2560320" y="22677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98648" y="1691640"/>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98648" y="1691640"/>
            <a:ext cx="50292" cy="114300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99816" y="1856232"/>
            <a:ext cx="1600200" cy="320040"/>
          </a:xfrm>
          <a:prstGeom prst="rect">
            <a:avLst/>
          </a:prstGeom>
          <a:noFill/>
        </p:spPr>
        <p:txBody>
          <a:bodyPr wrap="square" anchor="t">
            <a:spAutoFit/>
          </a:bodyPr>
          <a:lstStyle/>
          <a:p>
            <a:pPr algn="l"/>
            <a:r>
              <a:rPr sz="1500" b="1">
                <a:solidFill>
                  <a:srgbClr val="F8FAFC"/>
                </a:solidFill>
                <a:latin typeface="Aptos"/>
              </a:rPr>
              <a:t>Clean</a:t>
            </a:r>
          </a:p>
        </p:txBody>
      </p:sp>
      <p:cxnSp>
        <p:nvCxnSpPr>
          <p:cNvPr id="13" name="Connector 12"/>
          <p:cNvCxnSpPr/>
          <p:nvPr/>
        </p:nvCxnSpPr>
        <p:spPr>
          <a:xfrm>
            <a:off x="4864608" y="22677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202936" y="1691640"/>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02936" y="1691640"/>
            <a:ext cx="50292" cy="114300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04104" y="1856232"/>
            <a:ext cx="1600200" cy="320040"/>
          </a:xfrm>
          <a:prstGeom prst="rect">
            <a:avLst/>
          </a:prstGeom>
          <a:noFill/>
        </p:spPr>
        <p:txBody>
          <a:bodyPr wrap="square" anchor="t">
            <a:spAutoFit/>
          </a:bodyPr>
          <a:lstStyle/>
          <a:p>
            <a:pPr algn="l"/>
            <a:r>
              <a:rPr sz="1500" b="1">
                <a:solidFill>
                  <a:srgbClr val="F8FAFC"/>
                </a:solidFill>
                <a:latin typeface="Aptos"/>
              </a:rPr>
              <a:t>Engineer</a:t>
            </a:r>
          </a:p>
        </p:txBody>
      </p:sp>
      <p:cxnSp>
        <p:nvCxnSpPr>
          <p:cNvPr id="17" name="Connector 16"/>
          <p:cNvCxnSpPr/>
          <p:nvPr/>
        </p:nvCxnSpPr>
        <p:spPr>
          <a:xfrm>
            <a:off x="7168896" y="22677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507224" y="1691640"/>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07224" y="1691640"/>
            <a:ext cx="50292" cy="114300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08392" y="1856232"/>
            <a:ext cx="1600200" cy="320040"/>
          </a:xfrm>
          <a:prstGeom prst="rect">
            <a:avLst/>
          </a:prstGeom>
          <a:noFill/>
        </p:spPr>
        <p:txBody>
          <a:bodyPr wrap="square" anchor="t">
            <a:spAutoFit/>
          </a:bodyPr>
          <a:lstStyle/>
          <a:p>
            <a:pPr algn="l"/>
            <a:r>
              <a:rPr sz="1500" b="1">
                <a:solidFill>
                  <a:srgbClr val="F8FAFC"/>
                </a:solidFill>
                <a:latin typeface="Aptos"/>
              </a:rPr>
              <a:t>Preprocess</a:t>
            </a:r>
          </a:p>
        </p:txBody>
      </p:sp>
      <p:cxnSp>
        <p:nvCxnSpPr>
          <p:cNvPr id="21" name="Connector 20"/>
          <p:cNvCxnSpPr/>
          <p:nvPr/>
        </p:nvCxnSpPr>
        <p:spPr>
          <a:xfrm>
            <a:off x="9473184" y="22677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11512" y="1691640"/>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811512" y="1691640"/>
            <a:ext cx="50292" cy="114300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1856232"/>
            <a:ext cx="1600200" cy="320040"/>
          </a:xfrm>
          <a:prstGeom prst="rect">
            <a:avLst/>
          </a:prstGeom>
          <a:noFill/>
        </p:spPr>
        <p:txBody>
          <a:bodyPr wrap="square" anchor="t">
            <a:spAutoFit/>
          </a:bodyPr>
          <a:lstStyle/>
          <a:p>
            <a:pPr algn="l"/>
            <a:r>
              <a:rPr sz="1500" b="1">
                <a:solidFill>
                  <a:srgbClr val="F8FAFC"/>
                </a:solidFill>
                <a:latin typeface="Aptos"/>
              </a:rPr>
              <a:t>Compare models</a:t>
            </a:r>
          </a:p>
        </p:txBody>
      </p:sp>
      <p:sp>
        <p:nvSpPr>
          <p:cNvPr id="25" name="Rounded Rectangle 24"/>
          <p:cNvSpPr/>
          <p:nvPr/>
        </p:nvSpPr>
        <p:spPr>
          <a:xfrm>
            <a:off x="594360" y="3749039"/>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3749039"/>
            <a:ext cx="50292" cy="114300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8" y="3913631"/>
            <a:ext cx="1600200" cy="320040"/>
          </a:xfrm>
          <a:prstGeom prst="rect">
            <a:avLst/>
          </a:prstGeom>
          <a:noFill/>
        </p:spPr>
        <p:txBody>
          <a:bodyPr wrap="square" anchor="t">
            <a:spAutoFit/>
          </a:bodyPr>
          <a:lstStyle/>
          <a:p>
            <a:pPr algn="l"/>
            <a:r>
              <a:rPr sz="1500" b="1">
                <a:solidFill>
                  <a:srgbClr val="F8FAFC"/>
                </a:solidFill>
                <a:latin typeface="Aptos"/>
              </a:rPr>
              <a:t>Risk probability</a:t>
            </a:r>
          </a:p>
        </p:txBody>
      </p:sp>
      <p:cxnSp>
        <p:nvCxnSpPr>
          <p:cNvPr id="28" name="Connector 27"/>
          <p:cNvCxnSpPr/>
          <p:nvPr/>
        </p:nvCxnSpPr>
        <p:spPr>
          <a:xfrm>
            <a:off x="2560320" y="43251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898648" y="3749039"/>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898648" y="3749039"/>
            <a:ext cx="50292" cy="114300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99816" y="3913631"/>
            <a:ext cx="1600200" cy="320040"/>
          </a:xfrm>
          <a:prstGeom prst="rect">
            <a:avLst/>
          </a:prstGeom>
          <a:noFill/>
        </p:spPr>
        <p:txBody>
          <a:bodyPr wrap="square" anchor="t">
            <a:spAutoFit/>
          </a:bodyPr>
          <a:lstStyle/>
          <a:p>
            <a:pPr algn="l"/>
            <a:r>
              <a:rPr sz="1500" b="1">
                <a:solidFill>
                  <a:srgbClr val="F8FAFC"/>
                </a:solidFill>
                <a:latin typeface="Aptos"/>
              </a:rPr>
              <a:t>Risk category</a:t>
            </a:r>
          </a:p>
        </p:txBody>
      </p:sp>
      <p:cxnSp>
        <p:nvCxnSpPr>
          <p:cNvPr id="32" name="Connector 31"/>
          <p:cNvCxnSpPr/>
          <p:nvPr/>
        </p:nvCxnSpPr>
        <p:spPr>
          <a:xfrm>
            <a:off x="4864608" y="43251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202936" y="3749039"/>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02936" y="3749039"/>
            <a:ext cx="50292" cy="114300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04104" y="3913631"/>
            <a:ext cx="1600200" cy="320040"/>
          </a:xfrm>
          <a:prstGeom prst="rect">
            <a:avLst/>
          </a:prstGeom>
          <a:noFill/>
        </p:spPr>
        <p:txBody>
          <a:bodyPr wrap="square" anchor="t">
            <a:spAutoFit/>
          </a:bodyPr>
          <a:lstStyle/>
          <a:p>
            <a:pPr algn="l"/>
            <a:r>
              <a:rPr sz="1500" b="1">
                <a:solidFill>
                  <a:srgbClr val="F8FAFC"/>
                </a:solidFill>
                <a:latin typeface="Aptos"/>
              </a:rPr>
              <a:t>SHAP</a:t>
            </a:r>
          </a:p>
        </p:txBody>
      </p:sp>
      <p:cxnSp>
        <p:nvCxnSpPr>
          <p:cNvPr id="36" name="Connector 35"/>
          <p:cNvCxnSpPr/>
          <p:nvPr/>
        </p:nvCxnSpPr>
        <p:spPr>
          <a:xfrm>
            <a:off x="7168896" y="43251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507224" y="3749039"/>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507224" y="3749039"/>
            <a:ext cx="50292" cy="114300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08392" y="3913631"/>
            <a:ext cx="1600200" cy="320040"/>
          </a:xfrm>
          <a:prstGeom prst="rect">
            <a:avLst/>
          </a:prstGeom>
          <a:noFill/>
        </p:spPr>
        <p:txBody>
          <a:bodyPr wrap="square" anchor="t">
            <a:spAutoFit/>
          </a:bodyPr>
          <a:lstStyle/>
          <a:p>
            <a:pPr algn="l"/>
            <a:r>
              <a:rPr sz="1500" b="1">
                <a:solidFill>
                  <a:srgbClr val="F8FAFC"/>
                </a:solidFill>
                <a:latin typeface="Aptos"/>
              </a:rPr>
              <a:t>Gemini summary</a:t>
            </a:r>
          </a:p>
        </p:txBody>
      </p:sp>
      <p:cxnSp>
        <p:nvCxnSpPr>
          <p:cNvPr id="40" name="Connector 39"/>
          <p:cNvCxnSpPr/>
          <p:nvPr/>
        </p:nvCxnSpPr>
        <p:spPr>
          <a:xfrm>
            <a:off x="9473184" y="4325112"/>
            <a:ext cx="338328"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811512" y="3749039"/>
            <a:ext cx="1965960" cy="114300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11512" y="3749039"/>
            <a:ext cx="50292" cy="11430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12680" y="3913631"/>
            <a:ext cx="1600200" cy="320040"/>
          </a:xfrm>
          <a:prstGeom prst="rect">
            <a:avLst/>
          </a:prstGeom>
          <a:noFill/>
        </p:spPr>
        <p:txBody>
          <a:bodyPr wrap="square" anchor="t">
            <a:spAutoFit/>
          </a:bodyPr>
          <a:lstStyle/>
          <a:p>
            <a:pPr algn="l"/>
            <a:r>
              <a:rPr sz="1500" b="1">
                <a:solidFill>
                  <a:srgbClr val="F8FAFC"/>
                </a:solidFill>
                <a:latin typeface="Aptos"/>
              </a:rPr>
              <a:t>Human review</a:t>
            </a:r>
          </a:p>
        </p:txBody>
      </p:sp>
      <p:sp>
        <p:nvSpPr>
          <p:cNvPr id="44" name="TextBox 43"/>
          <p:cNvSpPr txBox="1"/>
          <p:nvPr/>
        </p:nvSpPr>
        <p:spPr>
          <a:xfrm>
            <a:off x="1005840" y="5532120"/>
            <a:ext cx="10149840" cy="384048"/>
          </a:xfrm>
          <a:prstGeom prst="rect">
            <a:avLst/>
          </a:prstGeom>
          <a:noFill/>
        </p:spPr>
        <p:txBody>
          <a:bodyPr wrap="square" anchor="t">
            <a:spAutoFit/>
          </a:bodyPr>
          <a:lstStyle/>
          <a:p>
            <a:pPr algn="ctr"/>
            <a:r>
              <a:rPr sz="1400" b="1">
                <a:solidFill>
                  <a:srgbClr val="F8FAFC"/>
                </a:solidFill>
                <a:latin typeface="Aptos"/>
              </a:rPr>
              <a:t>The model assists the investigator; it does not replace the investigator.</a:t>
            </a:r>
          </a:p>
        </p:txBody>
      </p:sp>
      <p:sp>
        <p:nvSpPr>
          <p:cNvPr id="45" name="TextBox 44"/>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46" name="TextBox 45"/>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20 • DEMO</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How the Streamlit pages work</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A page-by-page demo script for the interviewer.</a:t>
            </a:r>
          </a:p>
        </p:txBody>
      </p:sp>
      <p:sp>
        <p:nvSpPr>
          <p:cNvPr id="6" name="Rounded Rectangle 5"/>
          <p:cNvSpPr/>
          <p:nvPr/>
        </p:nvSpPr>
        <p:spPr>
          <a:xfrm>
            <a:off x="658368" y="1600200"/>
            <a:ext cx="25146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00200"/>
            <a:ext cx="50292" cy="425196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64792"/>
            <a:ext cx="2148840" cy="320040"/>
          </a:xfrm>
          <a:prstGeom prst="rect">
            <a:avLst/>
          </a:prstGeom>
          <a:noFill/>
        </p:spPr>
        <p:txBody>
          <a:bodyPr wrap="square" anchor="t">
            <a:spAutoFit/>
          </a:bodyPr>
          <a:lstStyle/>
          <a:p>
            <a:pPr algn="l"/>
            <a:r>
              <a:rPr sz="1500" b="1">
                <a:solidFill>
                  <a:srgbClr val="F8FAFC"/>
                </a:solidFill>
                <a:latin typeface="Aptos"/>
              </a:rPr>
              <a:t>Login / Register</a:t>
            </a:r>
          </a:p>
        </p:txBody>
      </p:sp>
      <p:sp>
        <p:nvSpPr>
          <p:cNvPr id="9" name="TextBox 8"/>
          <p:cNvSpPr txBox="1"/>
          <p:nvPr/>
        </p:nvSpPr>
        <p:spPr>
          <a:xfrm>
            <a:off x="859536" y="2167128"/>
            <a:ext cx="2130552" cy="3566160"/>
          </a:xfrm>
          <a:prstGeom prst="rect">
            <a:avLst/>
          </a:prstGeom>
          <a:noFill/>
        </p:spPr>
        <p:txBody>
          <a:bodyPr wrap="square" anchor="t">
            <a:spAutoFit/>
          </a:bodyPr>
          <a:lstStyle/>
          <a:p>
            <a:pPr algn="l"/>
            <a:r>
              <a:rPr sz="1120" b="0">
                <a:solidFill>
                  <a:srgbClr val="B2C2D6"/>
                </a:solidFill>
                <a:latin typeface="Aptos"/>
              </a:rPr>
              <a:t>Authenticate or create a prototype account.</a:t>
            </a:r>
          </a:p>
        </p:txBody>
      </p:sp>
      <p:cxnSp>
        <p:nvCxnSpPr>
          <p:cNvPr id="10" name="Connector 9"/>
          <p:cNvCxnSpPr/>
          <p:nvPr/>
        </p:nvCxnSpPr>
        <p:spPr>
          <a:xfrm>
            <a:off x="3200400" y="3730752"/>
            <a:ext cx="274320"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38728" y="1600200"/>
            <a:ext cx="25146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38728" y="1600200"/>
            <a:ext cx="50292" cy="425196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9896" y="1764792"/>
            <a:ext cx="2148840" cy="320040"/>
          </a:xfrm>
          <a:prstGeom prst="rect">
            <a:avLst/>
          </a:prstGeom>
          <a:noFill/>
        </p:spPr>
        <p:txBody>
          <a:bodyPr wrap="square" anchor="t">
            <a:spAutoFit/>
          </a:bodyPr>
          <a:lstStyle/>
          <a:p>
            <a:pPr algn="l"/>
            <a:r>
              <a:rPr sz="1500" b="1">
                <a:solidFill>
                  <a:srgbClr val="F8FAFC"/>
                </a:solidFill>
                <a:latin typeface="Aptos"/>
              </a:rPr>
              <a:t>Overview</a:t>
            </a:r>
          </a:p>
        </p:txBody>
      </p:sp>
      <p:sp>
        <p:nvSpPr>
          <p:cNvPr id="14" name="TextBox 13"/>
          <p:cNvSpPr txBox="1"/>
          <p:nvPr/>
        </p:nvSpPr>
        <p:spPr>
          <a:xfrm>
            <a:off x="3739896" y="2167128"/>
            <a:ext cx="2130552" cy="3566160"/>
          </a:xfrm>
          <a:prstGeom prst="rect">
            <a:avLst/>
          </a:prstGeom>
          <a:noFill/>
        </p:spPr>
        <p:txBody>
          <a:bodyPr wrap="square" anchor="t">
            <a:spAutoFit/>
          </a:bodyPr>
          <a:lstStyle/>
          <a:p>
            <a:pPr algn="l"/>
            <a:r>
              <a:rPr sz="1120" b="0">
                <a:solidFill>
                  <a:srgbClr val="B2C2D6"/>
                </a:solidFill>
                <a:latin typeface="Aptos"/>
              </a:rPr>
              <a:t>Metrics → objective → data → features → models → investigation.</a:t>
            </a:r>
          </a:p>
        </p:txBody>
      </p:sp>
      <p:cxnSp>
        <p:nvCxnSpPr>
          <p:cNvPr id="15" name="Connector 14"/>
          <p:cNvCxnSpPr/>
          <p:nvPr/>
        </p:nvCxnSpPr>
        <p:spPr>
          <a:xfrm>
            <a:off x="6080760" y="3730752"/>
            <a:ext cx="274320"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19088" y="1600200"/>
            <a:ext cx="25146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19088" y="1600200"/>
            <a:ext cx="50292" cy="425196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5" y="1764792"/>
            <a:ext cx="2148840" cy="320040"/>
          </a:xfrm>
          <a:prstGeom prst="rect">
            <a:avLst/>
          </a:prstGeom>
          <a:noFill/>
        </p:spPr>
        <p:txBody>
          <a:bodyPr wrap="square" anchor="t">
            <a:spAutoFit/>
          </a:bodyPr>
          <a:lstStyle/>
          <a:p>
            <a:pPr algn="l"/>
            <a:r>
              <a:rPr sz="1500" b="1">
                <a:solidFill>
                  <a:srgbClr val="F8FAFC"/>
                </a:solidFill>
                <a:latin typeface="Aptos"/>
              </a:rPr>
              <a:t>Graphs</a:t>
            </a:r>
          </a:p>
        </p:txBody>
      </p:sp>
      <p:sp>
        <p:nvSpPr>
          <p:cNvPr id="19" name="TextBox 18"/>
          <p:cNvSpPr txBox="1"/>
          <p:nvPr/>
        </p:nvSpPr>
        <p:spPr>
          <a:xfrm>
            <a:off x="6620255" y="2167128"/>
            <a:ext cx="2130552" cy="3566160"/>
          </a:xfrm>
          <a:prstGeom prst="rect">
            <a:avLst/>
          </a:prstGeom>
          <a:noFill/>
        </p:spPr>
        <p:txBody>
          <a:bodyPr wrap="square" anchor="t">
            <a:spAutoFit/>
          </a:bodyPr>
          <a:lstStyle/>
          <a:p>
            <a:pPr algn="l"/>
            <a:r>
              <a:rPr sz="1120" b="0">
                <a:solidFill>
                  <a:srgbClr val="B2C2D6"/>
                </a:solidFill>
                <a:latin typeface="Aptos"/>
              </a:rPr>
              <a:t>Explore claim/risk patterns and probability distribution.</a:t>
            </a:r>
          </a:p>
        </p:txBody>
      </p:sp>
      <p:cxnSp>
        <p:nvCxnSpPr>
          <p:cNvPr id="20" name="Connector 19"/>
          <p:cNvCxnSpPr/>
          <p:nvPr/>
        </p:nvCxnSpPr>
        <p:spPr>
          <a:xfrm>
            <a:off x="8961119" y="3730752"/>
            <a:ext cx="274321" cy="0"/>
          </a:xfrm>
          <a:prstGeom prst="line">
            <a:avLst/>
          </a:prstGeom>
          <a:ln w="19050">
            <a:solidFill>
              <a:srgbClr val="30496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99448" y="1600200"/>
            <a:ext cx="2514600" cy="42519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99448" y="1600200"/>
            <a:ext cx="50292" cy="425196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0616" y="1764792"/>
            <a:ext cx="2148840" cy="320040"/>
          </a:xfrm>
          <a:prstGeom prst="rect">
            <a:avLst/>
          </a:prstGeom>
          <a:noFill/>
        </p:spPr>
        <p:txBody>
          <a:bodyPr wrap="square" anchor="t">
            <a:spAutoFit/>
          </a:bodyPr>
          <a:lstStyle/>
          <a:p>
            <a:pPr algn="l"/>
            <a:r>
              <a:rPr sz="1500" b="1">
                <a:solidFill>
                  <a:srgbClr val="F8FAFC"/>
                </a:solidFill>
                <a:latin typeface="Aptos"/>
              </a:rPr>
              <a:t>Tables</a:t>
            </a:r>
          </a:p>
        </p:txBody>
      </p:sp>
      <p:sp>
        <p:nvSpPr>
          <p:cNvPr id="24" name="TextBox 23"/>
          <p:cNvSpPr txBox="1"/>
          <p:nvPr/>
        </p:nvSpPr>
        <p:spPr>
          <a:xfrm>
            <a:off x="9500616" y="2167128"/>
            <a:ext cx="2130552" cy="3566160"/>
          </a:xfrm>
          <a:prstGeom prst="rect">
            <a:avLst/>
          </a:prstGeom>
          <a:noFill/>
        </p:spPr>
        <p:txBody>
          <a:bodyPr wrap="square" anchor="t">
            <a:spAutoFit/>
          </a:bodyPr>
          <a:lstStyle/>
          <a:p>
            <a:pPr algn="l"/>
            <a:r>
              <a:rPr sz="1120" b="0">
                <a:solidFill>
                  <a:srgbClr val="B2C2D6"/>
                </a:solidFill>
                <a:latin typeface="Aptos"/>
              </a:rPr>
              <a:t>Inspect quality, model comparison, risk segments and scored claims.</a:t>
            </a:r>
          </a:p>
        </p:txBody>
      </p:sp>
      <p:sp>
        <p:nvSpPr>
          <p:cNvPr id="25" name="TextBox 24"/>
          <p:cNvSpPr txBox="1"/>
          <p:nvPr/>
        </p:nvSpPr>
        <p:spPr>
          <a:xfrm>
            <a:off x="731520" y="6053328"/>
            <a:ext cx="10789920" cy="274320"/>
          </a:xfrm>
          <a:prstGeom prst="rect">
            <a:avLst/>
          </a:prstGeom>
          <a:noFill/>
        </p:spPr>
        <p:txBody>
          <a:bodyPr wrap="square" anchor="t">
            <a:spAutoFit/>
          </a:bodyPr>
          <a:lstStyle/>
          <a:p>
            <a:pPr algn="l"/>
            <a:r>
              <a:rPr sz="1100" b="1">
                <a:solidFill>
                  <a:srgbClr val="58C7FF"/>
                </a:solidFill>
                <a:latin typeface="Aptos"/>
              </a:rPr>
              <a:t>Suggested live-demo order: Login → Overview → switch model → select claim → SHAP → Gemini → Graphs → Tables → CSV export</a:t>
            </a:r>
          </a:p>
        </p:txBody>
      </p:sp>
      <p:sp>
        <p:nvSpPr>
          <p:cNvPr id="26" name="TextBox 25"/>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27" name="TextBox 26"/>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21 • ENGINEERING</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Key implementation decisions</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parts I would emphasize in a technical interview.</a:t>
            </a:r>
          </a:p>
        </p:txBody>
      </p:sp>
      <p:sp>
        <p:nvSpPr>
          <p:cNvPr id="6" name="Rounded Rectangle 5"/>
          <p:cNvSpPr/>
          <p:nvPr/>
        </p:nvSpPr>
        <p:spPr>
          <a:xfrm>
            <a:off x="594360" y="1508760"/>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508760"/>
            <a:ext cx="50292" cy="932688"/>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73351"/>
            <a:ext cx="4937759" cy="320040"/>
          </a:xfrm>
          <a:prstGeom prst="rect">
            <a:avLst/>
          </a:prstGeom>
          <a:noFill/>
        </p:spPr>
        <p:txBody>
          <a:bodyPr wrap="square" anchor="t">
            <a:spAutoFit/>
          </a:bodyPr>
          <a:lstStyle/>
          <a:p>
            <a:pPr algn="l"/>
            <a:r>
              <a:rPr sz="1500" b="1">
                <a:solidFill>
                  <a:srgbClr val="F8FAFC"/>
                </a:solidFill>
                <a:latin typeface="Aptos"/>
              </a:rPr>
              <a:t>Reusable shared layer</a:t>
            </a:r>
          </a:p>
        </p:txBody>
      </p:sp>
      <p:sp>
        <p:nvSpPr>
          <p:cNvPr id="9" name="TextBox 8"/>
          <p:cNvSpPr txBox="1"/>
          <p:nvPr/>
        </p:nvSpPr>
        <p:spPr>
          <a:xfrm>
            <a:off x="795528" y="2075688"/>
            <a:ext cx="4919472" cy="246888"/>
          </a:xfrm>
          <a:prstGeom prst="rect">
            <a:avLst/>
          </a:prstGeom>
          <a:noFill/>
        </p:spPr>
        <p:txBody>
          <a:bodyPr wrap="square" anchor="t">
            <a:spAutoFit/>
          </a:bodyPr>
          <a:lstStyle/>
          <a:p>
            <a:pPr algn="l"/>
            <a:r>
              <a:rPr sz="1120" b="0">
                <a:solidFill>
                  <a:srgbClr val="B2C2D6"/>
                </a:solidFill>
                <a:latin typeface="Aptos"/>
              </a:rPr>
              <a:t>common_app.py prevents repeated loading, scoring, authentication and UI logic.</a:t>
            </a:r>
          </a:p>
        </p:txBody>
      </p:sp>
      <p:sp>
        <p:nvSpPr>
          <p:cNvPr id="10" name="Rounded Rectangle 9"/>
          <p:cNvSpPr/>
          <p:nvPr/>
        </p:nvSpPr>
        <p:spPr>
          <a:xfrm>
            <a:off x="6309360" y="1508760"/>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508760"/>
            <a:ext cx="50292" cy="932688"/>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1673351"/>
            <a:ext cx="4937759" cy="320040"/>
          </a:xfrm>
          <a:prstGeom prst="rect">
            <a:avLst/>
          </a:prstGeom>
          <a:noFill/>
        </p:spPr>
        <p:txBody>
          <a:bodyPr wrap="square" anchor="t">
            <a:spAutoFit/>
          </a:bodyPr>
          <a:lstStyle/>
          <a:p>
            <a:pPr algn="l"/>
            <a:r>
              <a:rPr sz="1500" b="1">
                <a:solidFill>
                  <a:srgbClr val="F8FAFC"/>
                </a:solidFill>
                <a:latin typeface="Aptos"/>
              </a:rPr>
              <a:t>Caching</a:t>
            </a:r>
          </a:p>
        </p:txBody>
      </p:sp>
      <p:sp>
        <p:nvSpPr>
          <p:cNvPr id="13" name="TextBox 12"/>
          <p:cNvSpPr txBox="1"/>
          <p:nvPr/>
        </p:nvSpPr>
        <p:spPr>
          <a:xfrm>
            <a:off x="6510528" y="2075688"/>
            <a:ext cx="4919472" cy="246888"/>
          </a:xfrm>
          <a:prstGeom prst="rect">
            <a:avLst/>
          </a:prstGeom>
          <a:noFill/>
        </p:spPr>
        <p:txBody>
          <a:bodyPr wrap="square" anchor="t">
            <a:spAutoFit/>
          </a:bodyPr>
          <a:lstStyle/>
          <a:p>
            <a:pPr algn="l"/>
            <a:r>
              <a:rPr sz="1120" b="0">
                <a:solidFill>
                  <a:srgbClr val="B2C2D6"/>
                </a:solidFill>
                <a:latin typeface="Aptos"/>
              </a:rPr>
              <a:t>Streamlit cache decorators reduce repeated data/model work.</a:t>
            </a:r>
          </a:p>
        </p:txBody>
      </p:sp>
      <p:sp>
        <p:nvSpPr>
          <p:cNvPr id="14" name="Rounded Rectangle 13"/>
          <p:cNvSpPr/>
          <p:nvPr/>
        </p:nvSpPr>
        <p:spPr>
          <a:xfrm>
            <a:off x="594360" y="2679191"/>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2679191"/>
            <a:ext cx="50292" cy="93268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2843784"/>
            <a:ext cx="4937759" cy="320040"/>
          </a:xfrm>
          <a:prstGeom prst="rect">
            <a:avLst/>
          </a:prstGeom>
          <a:noFill/>
        </p:spPr>
        <p:txBody>
          <a:bodyPr wrap="square" anchor="t">
            <a:spAutoFit/>
          </a:bodyPr>
          <a:lstStyle/>
          <a:p>
            <a:pPr algn="l"/>
            <a:r>
              <a:rPr sz="1500" b="1">
                <a:solidFill>
                  <a:srgbClr val="F8FAFC"/>
                </a:solidFill>
                <a:latin typeface="Aptos"/>
              </a:rPr>
              <a:t>Leakage prevention</a:t>
            </a:r>
          </a:p>
        </p:txBody>
      </p:sp>
      <p:sp>
        <p:nvSpPr>
          <p:cNvPr id="17" name="TextBox 16"/>
          <p:cNvSpPr txBox="1"/>
          <p:nvPr/>
        </p:nvSpPr>
        <p:spPr>
          <a:xfrm>
            <a:off x="795528" y="3246120"/>
            <a:ext cx="4919472" cy="246888"/>
          </a:xfrm>
          <a:prstGeom prst="rect">
            <a:avLst/>
          </a:prstGeom>
          <a:noFill/>
        </p:spPr>
        <p:txBody>
          <a:bodyPr wrap="square" anchor="t">
            <a:spAutoFit/>
          </a:bodyPr>
          <a:lstStyle/>
          <a:p>
            <a:pPr algn="l"/>
            <a:r>
              <a:rPr sz="1120" b="0">
                <a:solidFill>
                  <a:srgbClr val="B2C2D6"/>
                </a:solidFill>
                <a:latin typeface="Aptos"/>
              </a:rPr>
              <a:t>Identifiers, free text and target are excluded from modeling inputs.</a:t>
            </a:r>
          </a:p>
        </p:txBody>
      </p:sp>
      <p:sp>
        <p:nvSpPr>
          <p:cNvPr id="18" name="Rounded Rectangle 17"/>
          <p:cNvSpPr/>
          <p:nvPr/>
        </p:nvSpPr>
        <p:spPr>
          <a:xfrm>
            <a:off x="6309360" y="2679191"/>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2679191"/>
            <a:ext cx="50292" cy="932688"/>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0528" y="2843784"/>
            <a:ext cx="4937759" cy="320040"/>
          </a:xfrm>
          <a:prstGeom prst="rect">
            <a:avLst/>
          </a:prstGeom>
          <a:noFill/>
        </p:spPr>
        <p:txBody>
          <a:bodyPr wrap="square" anchor="t">
            <a:spAutoFit/>
          </a:bodyPr>
          <a:lstStyle/>
          <a:p>
            <a:pPr algn="l"/>
            <a:r>
              <a:rPr sz="1500" b="1">
                <a:solidFill>
                  <a:srgbClr val="F8FAFC"/>
                </a:solidFill>
                <a:latin typeface="Aptos"/>
              </a:rPr>
              <a:t>Model comparison</a:t>
            </a:r>
          </a:p>
        </p:txBody>
      </p:sp>
      <p:sp>
        <p:nvSpPr>
          <p:cNvPr id="21" name="TextBox 20"/>
          <p:cNvSpPr txBox="1"/>
          <p:nvPr/>
        </p:nvSpPr>
        <p:spPr>
          <a:xfrm>
            <a:off x="6510528" y="3246120"/>
            <a:ext cx="4919472" cy="246888"/>
          </a:xfrm>
          <a:prstGeom prst="rect">
            <a:avLst/>
          </a:prstGeom>
          <a:noFill/>
        </p:spPr>
        <p:txBody>
          <a:bodyPr wrap="square" anchor="t">
            <a:spAutoFit/>
          </a:bodyPr>
          <a:lstStyle/>
          <a:p>
            <a:pPr algn="l"/>
            <a:r>
              <a:rPr sz="1120" b="0">
                <a:solidFill>
                  <a:srgbClr val="B2C2D6"/>
                </a:solidFill>
                <a:latin typeface="Aptos"/>
              </a:rPr>
              <a:t>Multiple candidate models are evaluated rather than assuming one is best.</a:t>
            </a:r>
          </a:p>
        </p:txBody>
      </p:sp>
      <p:sp>
        <p:nvSpPr>
          <p:cNvPr id="22" name="Rounded Rectangle 21"/>
          <p:cNvSpPr/>
          <p:nvPr/>
        </p:nvSpPr>
        <p:spPr>
          <a:xfrm>
            <a:off x="594360" y="3849624"/>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849624"/>
            <a:ext cx="50292" cy="932688"/>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4014215"/>
            <a:ext cx="4937759" cy="320040"/>
          </a:xfrm>
          <a:prstGeom prst="rect">
            <a:avLst/>
          </a:prstGeom>
          <a:noFill/>
        </p:spPr>
        <p:txBody>
          <a:bodyPr wrap="square" anchor="t">
            <a:spAutoFit/>
          </a:bodyPr>
          <a:lstStyle/>
          <a:p>
            <a:pPr algn="l"/>
            <a:r>
              <a:rPr sz="1500" b="1">
                <a:solidFill>
                  <a:srgbClr val="F8FAFC"/>
                </a:solidFill>
                <a:latin typeface="Aptos"/>
              </a:rPr>
              <a:t>Explainability</a:t>
            </a:r>
          </a:p>
        </p:txBody>
      </p:sp>
      <p:sp>
        <p:nvSpPr>
          <p:cNvPr id="25" name="TextBox 24"/>
          <p:cNvSpPr txBox="1"/>
          <p:nvPr/>
        </p:nvSpPr>
        <p:spPr>
          <a:xfrm>
            <a:off x="795528" y="4416552"/>
            <a:ext cx="4919472" cy="246888"/>
          </a:xfrm>
          <a:prstGeom prst="rect">
            <a:avLst/>
          </a:prstGeom>
          <a:noFill/>
        </p:spPr>
        <p:txBody>
          <a:bodyPr wrap="square" anchor="t">
            <a:spAutoFit/>
          </a:bodyPr>
          <a:lstStyle/>
          <a:p>
            <a:pPr algn="l"/>
            <a:r>
              <a:rPr sz="1120" b="0">
                <a:solidFill>
                  <a:srgbClr val="B2C2D6"/>
                </a:solidFill>
                <a:latin typeface="Aptos"/>
              </a:rPr>
              <a:t>SHAP makes individual predictions inspectable.</a:t>
            </a:r>
          </a:p>
        </p:txBody>
      </p:sp>
      <p:sp>
        <p:nvSpPr>
          <p:cNvPr id="26" name="Rounded Rectangle 25"/>
          <p:cNvSpPr/>
          <p:nvPr/>
        </p:nvSpPr>
        <p:spPr>
          <a:xfrm>
            <a:off x="6309360" y="3849624"/>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3849624"/>
            <a:ext cx="50292" cy="932688"/>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4014215"/>
            <a:ext cx="4937759" cy="320040"/>
          </a:xfrm>
          <a:prstGeom prst="rect">
            <a:avLst/>
          </a:prstGeom>
          <a:noFill/>
        </p:spPr>
        <p:txBody>
          <a:bodyPr wrap="square" anchor="t">
            <a:spAutoFit/>
          </a:bodyPr>
          <a:lstStyle/>
          <a:p>
            <a:pPr algn="l"/>
            <a:r>
              <a:rPr sz="1500" b="1">
                <a:solidFill>
                  <a:srgbClr val="F8FAFC"/>
                </a:solidFill>
                <a:latin typeface="Aptos"/>
              </a:rPr>
              <a:t>Safe GenAI</a:t>
            </a:r>
          </a:p>
        </p:txBody>
      </p:sp>
      <p:sp>
        <p:nvSpPr>
          <p:cNvPr id="29" name="TextBox 28"/>
          <p:cNvSpPr txBox="1"/>
          <p:nvPr/>
        </p:nvSpPr>
        <p:spPr>
          <a:xfrm>
            <a:off x="6510528" y="4416552"/>
            <a:ext cx="4919472" cy="246888"/>
          </a:xfrm>
          <a:prstGeom prst="rect">
            <a:avLst/>
          </a:prstGeom>
          <a:noFill/>
        </p:spPr>
        <p:txBody>
          <a:bodyPr wrap="square" anchor="t">
            <a:spAutoFit/>
          </a:bodyPr>
          <a:lstStyle/>
          <a:p>
            <a:pPr algn="l"/>
            <a:r>
              <a:rPr sz="1120" b="0">
                <a:solidFill>
                  <a:srgbClr val="B2C2D6"/>
                </a:solidFill>
                <a:latin typeface="Aptos"/>
              </a:rPr>
              <a:t>Gemini is constrained to supplied facts and never makes the final decision.</a:t>
            </a:r>
          </a:p>
        </p:txBody>
      </p:sp>
      <p:sp>
        <p:nvSpPr>
          <p:cNvPr id="30" name="Rounded Rectangle 29"/>
          <p:cNvSpPr/>
          <p:nvPr/>
        </p:nvSpPr>
        <p:spPr>
          <a:xfrm>
            <a:off x="594360" y="5020056"/>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5020056"/>
            <a:ext cx="50292" cy="932688"/>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5184648"/>
            <a:ext cx="4937759" cy="320040"/>
          </a:xfrm>
          <a:prstGeom prst="rect">
            <a:avLst/>
          </a:prstGeom>
          <a:noFill/>
        </p:spPr>
        <p:txBody>
          <a:bodyPr wrap="square" anchor="t">
            <a:spAutoFit/>
          </a:bodyPr>
          <a:lstStyle/>
          <a:p>
            <a:pPr algn="l"/>
            <a:r>
              <a:rPr sz="1500" b="1">
                <a:solidFill>
                  <a:srgbClr val="F8FAFC"/>
                </a:solidFill>
                <a:latin typeface="Aptos"/>
              </a:rPr>
              <a:t>Fallback behavior</a:t>
            </a:r>
          </a:p>
        </p:txBody>
      </p:sp>
      <p:sp>
        <p:nvSpPr>
          <p:cNvPr id="33" name="TextBox 32"/>
          <p:cNvSpPr txBox="1"/>
          <p:nvPr/>
        </p:nvSpPr>
        <p:spPr>
          <a:xfrm>
            <a:off x="795528" y="5586984"/>
            <a:ext cx="4919472" cy="246888"/>
          </a:xfrm>
          <a:prstGeom prst="rect">
            <a:avLst/>
          </a:prstGeom>
          <a:noFill/>
        </p:spPr>
        <p:txBody>
          <a:bodyPr wrap="square" anchor="t">
            <a:spAutoFit/>
          </a:bodyPr>
          <a:lstStyle/>
          <a:p>
            <a:pPr algn="l"/>
            <a:r>
              <a:rPr sz="1120" b="0">
                <a:solidFill>
                  <a:srgbClr val="B2C2D6"/>
                </a:solidFill>
                <a:latin typeface="Aptos"/>
              </a:rPr>
              <a:t>A deterministic explanation remains available if Gemini fails.</a:t>
            </a:r>
          </a:p>
        </p:txBody>
      </p:sp>
      <p:sp>
        <p:nvSpPr>
          <p:cNvPr id="34" name="Rounded Rectangle 33"/>
          <p:cNvSpPr/>
          <p:nvPr/>
        </p:nvSpPr>
        <p:spPr>
          <a:xfrm>
            <a:off x="6309360" y="5020056"/>
            <a:ext cx="5303520" cy="932688"/>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5020056"/>
            <a:ext cx="50292" cy="932688"/>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0528" y="5184648"/>
            <a:ext cx="4937759" cy="320040"/>
          </a:xfrm>
          <a:prstGeom prst="rect">
            <a:avLst/>
          </a:prstGeom>
          <a:noFill/>
        </p:spPr>
        <p:txBody>
          <a:bodyPr wrap="square" anchor="t">
            <a:spAutoFit/>
          </a:bodyPr>
          <a:lstStyle/>
          <a:p>
            <a:pPr algn="l"/>
            <a:r>
              <a:rPr sz="1500" b="1">
                <a:solidFill>
                  <a:srgbClr val="F8FAFC"/>
                </a:solidFill>
                <a:latin typeface="Aptos"/>
              </a:rPr>
              <a:t>Human-in-loop</a:t>
            </a:r>
          </a:p>
        </p:txBody>
      </p:sp>
      <p:sp>
        <p:nvSpPr>
          <p:cNvPr id="37" name="TextBox 36"/>
          <p:cNvSpPr txBox="1"/>
          <p:nvPr/>
        </p:nvSpPr>
        <p:spPr>
          <a:xfrm>
            <a:off x="6510528" y="5586984"/>
            <a:ext cx="4919472" cy="246888"/>
          </a:xfrm>
          <a:prstGeom prst="rect">
            <a:avLst/>
          </a:prstGeom>
          <a:noFill/>
        </p:spPr>
        <p:txBody>
          <a:bodyPr wrap="square" anchor="t">
            <a:spAutoFit/>
          </a:bodyPr>
          <a:lstStyle/>
          <a:p>
            <a:pPr algn="l"/>
            <a:r>
              <a:rPr sz="1120" b="0">
                <a:solidFill>
                  <a:srgbClr val="B2C2D6"/>
                </a:solidFill>
                <a:latin typeface="Aptos"/>
              </a:rPr>
              <a:t>Risk output prioritizes review instead of automatically rejecting claims.</a:t>
            </a:r>
          </a:p>
        </p:txBody>
      </p:sp>
      <p:sp>
        <p:nvSpPr>
          <p:cNvPr id="38" name="TextBox 3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39" name="TextBox 3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22 • NEXT STEPS</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Limitations &amp; production roadmap</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What I would improve before using this beyond a prototype.</a:t>
            </a:r>
          </a:p>
        </p:txBody>
      </p:sp>
      <p:sp>
        <p:nvSpPr>
          <p:cNvPr id="6" name="Rounded Rectangle 5"/>
          <p:cNvSpPr/>
          <p:nvPr/>
        </p:nvSpPr>
        <p:spPr>
          <a:xfrm>
            <a:off x="658368" y="1554480"/>
            <a:ext cx="3383280" cy="443484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54480"/>
            <a:ext cx="50292" cy="4434840"/>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719072"/>
            <a:ext cx="3017520" cy="320040"/>
          </a:xfrm>
          <a:prstGeom prst="rect">
            <a:avLst/>
          </a:prstGeom>
          <a:noFill/>
        </p:spPr>
        <p:txBody>
          <a:bodyPr wrap="square" anchor="t">
            <a:spAutoFit/>
          </a:bodyPr>
          <a:lstStyle/>
          <a:p>
            <a:pPr algn="l"/>
            <a:r>
              <a:rPr sz="1500" b="1">
                <a:solidFill>
                  <a:srgbClr val="F8FAFC"/>
                </a:solidFill>
                <a:latin typeface="Aptos"/>
              </a:rPr>
              <a:t>Current prototype limitations</a:t>
            </a:r>
          </a:p>
        </p:txBody>
      </p:sp>
      <p:sp>
        <p:nvSpPr>
          <p:cNvPr id="9" name="TextBox 8"/>
          <p:cNvSpPr txBox="1"/>
          <p:nvPr/>
        </p:nvSpPr>
        <p:spPr>
          <a:xfrm>
            <a:off x="859536" y="2121408"/>
            <a:ext cx="2999232" cy="3749039"/>
          </a:xfrm>
          <a:prstGeom prst="rect">
            <a:avLst/>
          </a:prstGeom>
          <a:noFill/>
        </p:spPr>
        <p:txBody>
          <a:bodyPr wrap="square" anchor="t">
            <a:spAutoFit/>
          </a:bodyPr>
          <a:lstStyle/>
          <a:p>
            <a:pPr algn="l"/>
            <a:r>
              <a:rPr sz="1120" b="0">
                <a:solidFill>
                  <a:srgbClr val="B2C2D6"/>
                </a:solidFill>
                <a:latin typeface="Aptos"/>
              </a:rPr>
              <a:t>• Synthetic/default dataset
• Local users.json authentication
• GenAI depends on API configuration
• Model performance depends on the supplied dataset
• No production database / audit service shown
• Risk scores are decision-support signals</a:t>
            </a:r>
          </a:p>
        </p:txBody>
      </p:sp>
      <p:sp>
        <p:nvSpPr>
          <p:cNvPr id="10" name="Rounded Rectangle 9"/>
          <p:cNvSpPr/>
          <p:nvPr/>
        </p:nvSpPr>
        <p:spPr>
          <a:xfrm>
            <a:off x="4407408" y="1554480"/>
            <a:ext cx="3383280" cy="443484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1554480"/>
            <a:ext cx="50292" cy="4434840"/>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19072"/>
            <a:ext cx="3017520" cy="320040"/>
          </a:xfrm>
          <a:prstGeom prst="rect">
            <a:avLst/>
          </a:prstGeom>
          <a:noFill/>
        </p:spPr>
        <p:txBody>
          <a:bodyPr wrap="square" anchor="t">
            <a:spAutoFit/>
          </a:bodyPr>
          <a:lstStyle/>
          <a:p>
            <a:pPr algn="l"/>
            <a:r>
              <a:rPr sz="1500" b="1">
                <a:solidFill>
                  <a:srgbClr val="F8FAFC"/>
                </a:solidFill>
                <a:latin typeface="Aptos"/>
              </a:rPr>
              <a:t>Production hardening</a:t>
            </a:r>
          </a:p>
        </p:txBody>
      </p:sp>
      <p:sp>
        <p:nvSpPr>
          <p:cNvPr id="13" name="TextBox 12"/>
          <p:cNvSpPr txBox="1"/>
          <p:nvPr/>
        </p:nvSpPr>
        <p:spPr>
          <a:xfrm>
            <a:off x="4608576" y="2121408"/>
            <a:ext cx="2999232" cy="3749039"/>
          </a:xfrm>
          <a:prstGeom prst="rect">
            <a:avLst/>
          </a:prstGeom>
          <a:noFill/>
        </p:spPr>
        <p:txBody>
          <a:bodyPr wrap="square" anchor="t">
            <a:spAutoFit/>
          </a:bodyPr>
          <a:lstStyle/>
          <a:p>
            <a:pPr algn="l"/>
            <a:r>
              <a:rPr sz="1120" b="0">
                <a:solidFill>
                  <a:srgbClr val="B2C2D6"/>
                </a:solidFill>
                <a:latin typeface="Aptos"/>
              </a:rPr>
              <a:t>• Secure identity provider
• Database-backed users and audit logs
• Secrets manager for API credentials
• Data validation schema
• Monitoring and drift detection
• Model/version tracking
• Role-based access control</a:t>
            </a:r>
          </a:p>
        </p:txBody>
      </p:sp>
      <p:sp>
        <p:nvSpPr>
          <p:cNvPr id="14" name="Rounded Rectangle 13"/>
          <p:cNvSpPr/>
          <p:nvPr/>
        </p:nvSpPr>
        <p:spPr>
          <a:xfrm>
            <a:off x="8156448" y="1554480"/>
            <a:ext cx="3383280" cy="443484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56448" y="1554480"/>
            <a:ext cx="50292" cy="4434840"/>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1719072"/>
            <a:ext cx="3017520" cy="320040"/>
          </a:xfrm>
          <a:prstGeom prst="rect">
            <a:avLst/>
          </a:prstGeom>
          <a:noFill/>
        </p:spPr>
        <p:txBody>
          <a:bodyPr wrap="square" anchor="t">
            <a:spAutoFit/>
          </a:bodyPr>
          <a:lstStyle/>
          <a:p>
            <a:pPr algn="l"/>
            <a:r>
              <a:rPr sz="1500" b="1">
                <a:solidFill>
                  <a:srgbClr val="F8FAFC"/>
                </a:solidFill>
                <a:latin typeface="Aptos"/>
              </a:rPr>
              <a:t>ML maturity</a:t>
            </a:r>
          </a:p>
        </p:txBody>
      </p:sp>
      <p:sp>
        <p:nvSpPr>
          <p:cNvPr id="17" name="TextBox 16"/>
          <p:cNvSpPr txBox="1"/>
          <p:nvPr/>
        </p:nvSpPr>
        <p:spPr>
          <a:xfrm>
            <a:off x="8357616" y="2121408"/>
            <a:ext cx="2999232" cy="3749039"/>
          </a:xfrm>
          <a:prstGeom prst="rect">
            <a:avLst/>
          </a:prstGeom>
          <a:noFill/>
        </p:spPr>
        <p:txBody>
          <a:bodyPr wrap="square" anchor="t">
            <a:spAutoFit/>
          </a:bodyPr>
          <a:lstStyle/>
          <a:p>
            <a:pPr algn="l"/>
            <a:r>
              <a:rPr sz="1120" b="0">
                <a:solidFill>
                  <a:srgbClr val="B2C2D6"/>
                </a:solidFill>
                <a:latin typeface="Aptos"/>
              </a:rPr>
              <a:t>• Larger representative labeled data
• Robust cross-validation
• Calibration checks
• Threshold tuning by business cost
• Fairness / bias evaluation
• Continuous evaluation after deployment</a:t>
            </a:r>
          </a:p>
        </p:txBody>
      </p:sp>
      <p:sp>
        <p:nvSpPr>
          <p:cNvPr id="18" name="TextBox 1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19" name="TextBox 1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23 • Q&amp;A</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Likely interviewer questions</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Short answers you can give confidently.</a:t>
            </a:r>
          </a:p>
        </p:txBody>
      </p:sp>
      <p:sp>
        <p:nvSpPr>
          <p:cNvPr id="6" name="Rounded Rectangle 5"/>
          <p:cNvSpPr/>
          <p:nvPr/>
        </p:nvSpPr>
        <p:spPr>
          <a:xfrm>
            <a:off x="594360" y="1444752"/>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444752"/>
            <a:ext cx="50292" cy="987552"/>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609344"/>
            <a:ext cx="4937759" cy="320040"/>
          </a:xfrm>
          <a:prstGeom prst="rect">
            <a:avLst/>
          </a:prstGeom>
          <a:noFill/>
        </p:spPr>
        <p:txBody>
          <a:bodyPr wrap="square" anchor="t">
            <a:spAutoFit/>
          </a:bodyPr>
          <a:lstStyle/>
          <a:p>
            <a:pPr algn="l"/>
            <a:r>
              <a:rPr sz="1500" b="1">
                <a:solidFill>
                  <a:srgbClr val="F8FAFC"/>
                </a:solidFill>
                <a:latin typeface="Aptos"/>
              </a:rPr>
              <a:t>Why not use accuracy?</a:t>
            </a:r>
          </a:p>
        </p:txBody>
      </p:sp>
      <p:sp>
        <p:nvSpPr>
          <p:cNvPr id="9" name="TextBox 8"/>
          <p:cNvSpPr txBox="1"/>
          <p:nvPr/>
        </p:nvSpPr>
        <p:spPr>
          <a:xfrm>
            <a:off x="795528" y="2011680"/>
            <a:ext cx="4919472" cy="301752"/>
          </a:xfrm>
          <a:prstGeom prst="rect">
            <a:avLst/>
          </a:prstGeom>
          <a:noFill/>
        </p:spPr>
        <p:txBody>
          <a:bodyPr wrap="square" anchor="t">
            <a:spAutoFit/>
          </a:bodyPr>
          <a:lstStyle/>
          <a:p>
            <a:pPr algn="l"/>
            <a:r>
              <a:rPr sz="1120" b="0">
                <a:solidFill>
                  <a:srgbClr val="B2C2D6"/>
                </a:solidFill>
                <a:latin typeface="Aptos"/>
              </a:rPr>
              <a:t>Risk data can be imbalanced; precision, recall, F1 and PR-AUC provide more useful information.</a:t>
            </a:r>
          </a:p>
        </p:txBody>
      </p:sp>
      <p:sp>
        <p:nvSpPr>
          <p:cNvPr id="10" name="Rounded Rectangle 9"/>
          <p:cNvSpPr/>
          <p:nvPr/>
        </p:nvSpPr>
        <p:spPr>
          <a:xfrm>
            <a:off x="6309360" y="1444752"/>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444752"/>
            <a:ext cx="50292" cy="987552"/>
          </a:xfrm>
          <a:prstGeom prst="rect">
            <a:avLst/>
          </a:prstGeom>
          <a:solidFill>
            <a:srgbClr val="1E7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1609344"/>
            <a:ext cx="4937759" cy="320040"/>
          </a:xfrm>
          <a:prstGeom prst="rect">
            <a:avLst/>
          </a:prstGeom>
          <a:noFill/>
        </p:spPr>
        <p:txBody>
          <a:bodyPr wrap="square" anchor="t">
            <a:spAutoFit/>
          </a:bodyPr>
          <a:lstStyle/>
          <a:p>
            <a:pPr algn="l"/>
            <a:r>
              <a:rPr sz="1500" b="1">
                <a:solidFill>
                  <a:srgbClr val="F8FAFC"/>
                </a:solidFill>
                <a:latin typeface="Aptos"/>
              </a:rPr>
              <a:t>Why Random Forest?</a:t>
            </a:r>
          </a:p>
        </p:txBody>
      </p:sp>
      <p:sp>
        <p:nvSpPr>
          <p:cNvPr id="13" name="TextBox 12"/>
          <p:cNvSpPr txBox="1"/>
          <p:nvPr/>
        </p:nvSpPr>
        <p:spPr>
          <a:xfrm>
            <a:off x="6510528" y="2011680"/>
            <a:ext cx="4919472" cy="301752"/>
          </a:xfrm>
          <a:prstGeom prst="rect">
            <a:avLst/>
          </a:prstGeom>
          <a:noFill/>
        </p:spPr>
        <p:txBody>
          <a:bodyPr wrap="square" anchor="t">
            <a:spAutoFit/>
          </a:bodyPr>
          <a:lstStyle/>
          <a:p>
            <a:pPr algn="l"/>
            <a:r>
              <a:rPr sz="1120" b="0">
                <a:solidFill>
                  <a:srgbClr val="B2C2D6"/>
                </a:solidFill>
                <a:latin typeface="Aptos"/>
              </a:rPr>
              <a:t>It can capture nonlinear relationships and interactions that a linear model may miss.</a:t>
            </a:r>
          </a:p>
        </p:txBody>
      </p:sp>
      <p:sp>
        <p:nvSpPr>
          <p:cNvPr id="14" name="Rounded Rectangle 13"/>
          <p:cNvSpPr/>
          <p:nvPr/>
        </p:nvSpPr>
        <p:spPr>
          <a:xfrm>
            <a:off x="594360" y="2651760"/>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2651760"/>
            <a:ext cx="50292" cy="987552"/>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2816352"/>
            <a:ext cx="4937759" cy="320040"/>
          </a:xfrm>
          <a:prstGeom prst="rect">
            <a:avLst/>
          </a:prstGeom>
          <a:noFill/>
        </p:spPr>
        <p:txBody>
          <a:bodyPr wrap="square" anchor="t">
            <a:spAutoFit/>
          </a:bodyPr>
          <a:lstStyle/>
          <a:p>
            <a:pPr algn="l"/>
            <a:r>
              <a:rPr sz="1500" b="1">
                <a:solidFill>
                  <a:srgbClr val="F8FAFC"/>
                </a:solidFill>
                <a:latin typeface="Aptos"/>
              </a:rPr>
              <a:t>Why Logistic Regression?</a:t>
            </a:r>
          </a:p>
        </p:txBody>
      </p:sp>
      <p:sp>
        <p:nvSpPr>
          <p:cNvPr id="17" name="TextBox 16"/>
          <p:cNvSpPr txBox="1"/>
          <p:nvPr/>
        </p:nvSpPr>
        <p:spPr>
          <a:xfrm>
            <a:off x="795528" y="3218688"/>
            <a:ext cx="4919472" cy="301752"/>
          </a:xfrm>
          <a:prstGeom prst="rect">
            <a:avLst/>
          </a:prstGeom>
          <a:noFill/>
        </p:spPr>
        <p:txBody>
          <a:bodyPr wrap="square" anchor="t">
            <a:spAutoFit/>
          </a:bodyPr>
          <a:lstStyle/>
          <a:p>
            <a:pPr algn="l"/>
            <a:r>
              <a:rPr sz="1120" b="0">
                <a:solidFill>
                  <a:srgbClr val="B2C2D6"/>
                </a:solidFill>
                <a:latin typeface="Aptos"/>
              </a:rPr>
              <a:t>It is an interpretable baseline and provides a useful comparison against a more flexible model.</a:t>
            </a:r>
          </a:p>
        </p:txBody>
      </p:sp>
      <p:sp>
        <p:nvSpPr>
          <p:cNvPr id="18" name="Rounded Rectangle 17"/>
          <p:cNvSpPr/>
          <p:nvPr/>
        </p:nvSpPr>
        <p:spPr>
          <a:xfrm>
            <a:off x="6309360" y="2651760"/>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2651760"/>
            <a:ext cx="50292" cy="987552"/>
          </a:xfrm>
          <a:prstGeom prst="rect">
            <a:avLst/>
          </a:prstGeom>
          <a:solidFill>
            <a:srgbClr val="F5B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0528" y="2816352"/>
            <a:ext cx="4937759" cy="320040"/>
          </a:xfrm>
          <a:prstGeom prst="rect">
            <a:avLst/>
          </a:prstGeom>
          <a:noFill/>
        </p:spPr>
        <p:txBody>
          <a:bodyPr wrap="square" anchor="t">
            <a:spAutoFit/>
          </a:bodyPr>
          <a:lstStyle/>
          <a:p>
            <a:pPr algn="l"/>
            <a:r>
              <a:rPr sz="1500" b="1">
                <a:solidFill>
                  <a:srgbClr val="F8FAFC"/>
                </a:solidFill>
                <a:latin typeface="Aptos"/>
              </a:rPr>
              <a:t>Why SHAP?</a:t>
            </a:r>
          </a:p>
        </p:txBody>
      </p:sp>
      <p:sp>
        <p:nvSpPr>
          <p:cNvPr id="21" name="TextBox 20"/>
          <p:cNvSpPr txBox="1"/>
          <p:nvPr/>
        </p:nvSpPr>
        <p:spPr>
          <a:xfrm>
            <a:off x="6510528" y="3218688"/>
            <a:ext cx="4919472" cy="301752"/>
          </a:xfrm>
          <a:prstGeom prst="rect">
            <a:avLst/>
          </a:prstGeom>
          <a:noFill/>
        </p:spPr>
        <p:txBody>
          <a:bodyPr wrap="square" anchor="t">
            <a:spAutoFit/>
          </a:bodyPr>
          <a:lstStyle/>
          <a:p>
            <a:pPr algn="l"/>
            <a:r>
              <a:rPr sz="1120" b="0">
                <a:solidFill>
                  <a:srgbClr val="B2C2D6"/>
                </a:solidFill>
                <a:latin typeface="Aptos"/>
              </a:rPr>
              <a:t>It explains which features moved an individual prediction higher or lower.</a:t>
            </a:r>
          </a:p>
        </p:txBody>
      </p:sp>
      <p:sp>
        <p:nvSpPr>
          <p:cNvPr id="22" name="Rounded Rectangle 21"/>
          <p:cNvSpPr/>
          <p:nvPr/>
        </p:nvSpPr>
        <p:spPr>
          <a:xfrm>
            <a:off x="594360" y="3858768"/>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4360" y="3858768"/>
            <a:ext cx="50292" cy="98755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4023360"/>
            <a:ext cx="4937759" cy="320040"/>
          </a:xfrm>
          <a:prstGeom prst="rect">
            <a:avLst/>
          </a:prstGeom>
          <a:noFill/>
        </p:spPr>
        <p:txBody>
          <a:bodyPr wrap="square" anchor="t">
            <a:spAutoFit/>
          </a:bodyPr>
          <a:lstStyle/>
          <a:p>
            <a:pPr algn="l"/>
            <a:r>
              <a:rPr sz="1500" b="1">
                <a:solidFill>
                  <a:srgbClr val="F8FAFC"/>
                </a:solidFill>
                <a:latin typeface="Aptos"/>
              </a:rPr>
              <a:t>Does Gemini detect fraud?</a:t>
            </a:r>
          </a:p>
        </p:txBody>
      </p:sp>
      <p:sp>
        <p:nvSpPr>
          <p:cNvPr id="25" name="TextBox 24"/>
          <p:cNvSpPr txBox="1"/>
          <p:nvPr/>
        </p:nvSpPr>
        <p:spPr>
          <a:xfrm>
            <a:off x="795528" y="4425696"/>
            <a:ext cx="4919472" cy="301752"/>
          </a:xfrm>
          <a:prstGeom prst="rect">
            <a:avLst/>
          </a:prstGeom>
          <a:noFill/>
        </p:spPr>
        <p:txBody>
          <a:bodyPr wrap="square" anchor="t">
            <a:spAutoFit/>
          </a:bodyPr>
          <a:lstStyle/>
          <a:p>
            <a:pPr algn="l"/>
            <a:r>
              <a:rPr sz="1120" b="0">
                <a:solidFill>
                  <a:srgbClr val="B2C2D6"/>
                </a:solidFill>
                <a:latin typeface="Aptos"/>
              </a:rPr>
              <a:t>No. The ML model scores risk; Gemini only summarizes supplied facts and model-derived signals.</a:t>
            </a:r>
          </a:p>
        </p:txBody>
      </p:sp>
      <p:sp>
        <p:nvSpPr>
          <p:cNvPr id="26" name="Rounded Rectangle 25"/>
          <p:cNvSpPr/>
          <p:nvPr/>
        </p:nvSpPr>
        <p:spPr>
          <a:xfrm>
            <a:off x="6309360" y="3858768"/>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0" y="3858768"/>
            <a:ext cx="50292" cy="987552"/>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4023360"/>
            <a:ext cx="4937759" cy="320040"/>
          </a:xfrm>
          <a:prstGeom prst="rect">
            <a:avLst/>
          </a:prstGeom>
          <a:noFill/>
        </p:spPr>
        <p:txBody>
          <a:bodyPr wrap="square" anchor="t">
            <a:spAutoFit/>
          </a:bodyPr>
          <a:lstStyle/>
          <a:p>
            <a:pPr algn="l"/>
            <a:r>
              <a:rPr sz="1500" b="1">
                <a:solidFill>
                  <a:srgbClr val="F8FAFC"/>
                </a:solidFill>
                <a:latin typeface="Aptos"/>
              </a:rPr>
              <a:t>Can the model make mistakes?</a:t>
            </a:r>
          </a:p>
        </p:txBody>
      </p:sp>
      <p:sp>
        <p:nvSpPr>
          <p:cNvPr id="29" name="TextBox 28"/>
          <p:cNvSpPr txBox="1"/>
          <p:nvPr/>
        </p:nvSpPr>
        <p:spPr>
          <a:xfrm>
            <a:off x="6510528" y="4425696"/>
            <a:ext cx="4919472" cy="301752"/>
          </a:xfrm>
          <a:prstGeom prst="rect">
            <a:avLst/>
          </a:prstGeom>
          <a:noFill/>
        </p:spPr>
        <p:txBody>
          <a:bodyPr wrap="square" anchor="t">
            <a:spAutoFit/>
          </a:bodyPr>
          <a:lstStyle/>
          <a:p>
            <a:pPr algn="l"/>
            <a:r>
              <a:rPr sz="1120" b="0">
                <a:solidFill>
                  <a:srgbClr val="B2C2D6"/>
                </a:solidFill>
                <a:latin typeface="Aptos"/>
              </a:rPr>
              <a:t>Yes. That is why the output is a review signal and the investigator remains responsible for the decision.</a:t>
            </a:r>
          </a:p>
        </p:txBody>
      </p:sp>
      <p:sp>
        <p:nvSpPr>
          <p:cNvPr id="30" name="Rounded Rectangle 29"/>
          <p:cNvSpPr/>
          <p:nvPr/>
        </p:nvSpPr>
        <p:spPr>
          <a:xfrm>
            <a:off x="594360" y="5065776"/>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5065776"/>
            <a:ext cx="50292" cy="987552"/>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5230368"/>
            <a:ext cx="4937759" cy="320040"/>
          </a:xfrm>
          <a:prstGeom prst="rect">
            <a:avLst/>
          </a:prstGeom>
          <a:noFill/>
        </p:spPr>
        <p:txBody>
          <a:bodyPr wrap="square" anchor="t">
            <a:spAutoFit/>
          </a:bodyPr>
          <a:lstStyle/>
          <a:p>
            <a:pPr algn="l"/>
            <a:r>
              <a:rPr sz="1500" b="1">
                <a:solidFill>
                  <a:srgbClr val="F8FAFC"/>
                </a:solidFill>
                <a:latin typeface="Aptos"/>
              </a:rPr>
              <a:t>How do you prevent leakage?</a:t>
            </a:r>
          </a:p>
        </p:txBody>
      </p:sp>
      <p:sp>
        <p:nvSpPr>
          <p:cNvPr id="33" name="TextBox 32"/>
          <p:cNvSpPr txBox="1"/>
          <p:nvPr/>
        </p:nvSpPr>
        <p:spPr>
          <a:xfrm>
            <a:off x="795528" y="5632704"/>
            <a:ext cx="4919472" cy="301752"/>
          </a:xfrm>
          <a:prstGeom prst="rect">
            <a:avLst/>
          </a:prstGeom>
          <a:noFill/>
        </p:spPr>
        <p:txBody>
          <a:bodyPr wrap="square" anchor="t">
            <a:spAutoFit/>
          </a:bodyPr>
          <a:lstStyle/>
          <a:p>
            <a:pPr algn="l"/>
            <a:r>
              <a:rPr sz="1120" b="0">
                <a:solidFill>
                  <a:srgbClr val="B2C2D6"/>
                </a:solidFill>
                <a:latin typeface="Aptos"/>
              </a:rPr>
              <a:t>Exclude Claim ID, free-text description and the target label from model inputs.</a:t>
            </a:r>
          </a:p>
        </p:txBody>
      </p:sp>
      <p:sp>
        <p:nvSpPr>
          <p:cNvPr id="34" name="Rounded Rectangle 33"/>
          <p:cNvSpPr/>
          <p:nvPr/>
        </p:nvSpPr>
        <p:spPr>
          <a:xfrm>
            <a:off x="6309360" y="5065776"/>
            <a:ext cx="5303520" cy="987552"/>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5065776"/>
            <a:ext cx="50292" cy="987552"/>
          </a:xfrm>
          <a:prstGeom prst="rect">
            <a:avLst/>
          </a:prstGeom>
          <a:solidFill>
            <a:srgbClr val="36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10528" y="5230368"/>
            <a:ext cx="4937759" cy="320040"/>
          </a:xfrm>
          <a:prstGeom prst="rect">
            <a:avLst/>
          </a:prstGeom>
          <a:noFill/>
        </p:spPr>
        <p:txBody>
          <a:bodyPr wrap="square" anchor="t">
            <a:spAutoFit/>
          </a:bodyPr>
          <a:lstStyle/>
          <a:p>
            <a:pPr algn="l"/>
            <a:r>
              <a:rPr sz="1500" b="1">
                <a:solidFill>
                  <a:srgbClr val="F8FAFC"/>
                </a:solidFill>
                <a:latin typeface="Aptos"/>
              </a:rPr>
              <a:t>What happens if Gemini fails?</a:t>
            </a:r>
          </a:p>
        </p:txBody>
      </p:sp>
      <p:sp>
        <p:nvSpPr>
          <p:cNvPr id="37" name="TextBox 36"/>
          <p:cNvSpPr txBox="1"/>
          <p:nvPr/>
        </p:nvSpPr>
        <p:spPr>
          <a:xfrm>
            <a:off x="6510528" y="5632704"/>
            <a:ext cx="4919472" cy="301752"/>
          </a:xfrm>
          <a:prstGeom prst="rect">
            <a:avLst/>
          </a:prstGeom>
          <a:noFill/>
        </p:spPr>
        <p:txBody>
          <a:bodyPr wrap="square" anchor="t">
            <a:spAutoFit/>
          </a:bodyPr>
          <a:lstStyle/>
          <a:p>
            <a:pPr algn="l"/>
            <a:r>
              <a:rPr sz="1120" b="0">
                <a:solidFill>
                  <a:srgbClr val="B2C2D6"/>
                </a:solidFill>
                <a:latin typeface="Aptos"/>
              </a:rPr>
              <a:t>The UI falls back to a deterministic safe explanation.</a:t>
            </a:r>
          </a:p>
        </p:txBody>
      </p:sp>
      <p:sp>
        <p:nvSpPr>
          <p:cNvPr id="38" name="TextBox 37"/>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39" name="TextBox 38"/>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713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56032"/>
            <a:ext cx="2560320" cy="228600"/>
          </a:xfrm>
          <a:prstGeom prst="rect">
            <a:avLst/>
          </a:prstGeom>
          <a:noFill/>
        </p:spPr>
        <p:txBody>
          <a:bodyPr wrap="square" anchor="t">
            <a:spAutoFit/>
          </a:bodyPr>
          <a:lstStyle/>
          <a:p>
            <a:pPr algn="l"/>
            <a:r>
              <a:rPr sz="1000" b="1">
                <a:solidFill>
                  <a:srgbClr val="58C7FF"/>
                </a:solidFill>
                <a:latin typeface="Aptos"/>
              </a:rPr>
              <a:t>24 • CONCLUSION</a:t>
            </a:r>
          </a:p>
        </p:txBody>
      </p:sp>
      <p:sp>
        <p:nvSpPr>
          <p:cNvPr id="4" name="TextBox 3"/>
          <p:cNvSpPr txBox="1"/>
          <p:nvPr/>
        </p:nvSpPr>
        <p:spPr>
          <a:xfrm>
            <a:off x="566928" y="566928"/>
            <a:ext cx="10972800" cy="502920"/>
          </a:xfrm>
          <a:prstGeom prst="rect">
            <a:avLst/>
          </a:prstGeom>
          <a:noFill/>
        </p:spPr>
        <p:txBody>
          <a:bodyPr wrap="square" anchor="t">
            <a:spAutoFit/>
          </a:bodyPr>
          <a:lstStyle/>
          <a:p>
            <a:pPr algn="l"/>
            <a:r>
              <a:rPr sz="2500" b="1">
                <a:solidFill>
                  <a:srgbClr val="F8FAFC"/>
                </a:solidFill>
                <a:latin typeface="Aptos"/>
              </a:rPr>
              <a:t>Closing summary</a:t>
            </a:r>
          </a:p>
        </p:txBody>
      </p:sp>
      <p:sp>
        <p:nvSpPr>
          <p:cNvPr id="5" name="TextBox 4"/>
          <p:cNvSpPr txBox="1"/>
          <p:nvPr/>
        </p:nvSpPr>
        <p:spPr>
          <a:xfrm>
            <a:off x="566928" y="1051560"/>
            <a:ext cx="10789920" cy="384048"/>
          </a:xfrm>
          <a:prstGeom prst="rect">
            <a:avLst/>
          </a:prstGeom>
          <a:noFill/>
        </p:spPr>
        <p:txBody>
          <a:bodyPr wrap="square" anchor="t">
            <a:spAutoFit/>
          </a:bodyPr>
          <a:lstStyle/>
          <a:p>
            <a:pPr algn="l"/>
            <a:r>
              <a:rPr sz="1150" b="0">
                <a:solidFill>
                  <a:srgbClr val="B2C2D6"/>
                </a:solidFill>
                <a:latin typeface="Aptos"/>
              </a:rPr>
              <a:t>The project turns raw claim data into explainable, actionable investigation support.</a:t>
            </a:r>
          </a:p>
        </p:txBody>
      </p:sp>
      <p:sp>
        <p:nvSpPr>
          <p:cNvPr id="6" name="TextBox 5"/>
          <p:cNvSpPr txBox="1"/>
          <p:nvPr/>
        </p:nvSpPr>
        <p:spPr>
          <a:xfrm>
            <a:off x="777240" y="1828800"/>
            <a:ext cx="1097280" cy="320040"/>
          </a:xfrm>
          <a:prstGeom prst="rect">
            <a:avLst/>
          </a:prstGeom>
          <a:noFill/>
        </p:spPr>
        <p:txBody>
          <a:bodyPr wrap="square" anchor="t">
            <a:spAutoFit/>
          </a:bodyPr>
          <a:lstStyle/>
          <a:p>
            <a:pPr algn="ctr"/>
            <a:r>
              <a:rPr sz="1400" b="1">
                <a:solidFill>
                  <a:srgbClr val="58C7FF"/>
                </a:solidFill>
                <a:latin typeface="Aptos"/>
              </a:rPr>
              <a:t>Input</a:t>
            </a:r>
          </a:p>
        </p:txBody>
      </p:sp>
      <p:sp>
        <p:nvSpPr>
          <p:cNvPr id="7" name="TextBox 6"/>
          <p:cNvSpPr txBox="1"/>
          <p:nvPr/>
        </p:nvSpPr>
        <p:spPr>
          <a:xfrm>
            <a:off x="594360" y="2240280"/>
            <a:ext cx="1463040" cy="502920"/>
          </a:xfrm>
          <a:prstGeom prst="rect">
            <a:avLst/>
          </a:prstGeom>
          <a:noFill/>
        </p:spPr>
        <p:txBody>
          <a:bodyPr wrap="square" anchor="t">
            <a:spAutoFit/>
          </a:bodyPr>
          <a:lstStyle/>
          <a:p>
            <a:pPr algn="ctr"/>
            <a:r>
              <a:rPr sz="1700" b="1">
                <a:solidFill>
                  <a:srgbClr val="F8FAFC"/>
                </a:solidFill>
                <a:latin typeface="Aptos"/>
              </a:rPr>
              <a:t>Claims CSV</a:t>
            </a:r>
          </a:p>
        </p:txBody>
      </p:sp>
      <p:cxnSp>
        <p:nvCxnSpPr>
          <p:cNvPr id="8" name="Connector 7"/>
          <p:cNvCxnSpPr/>
          <p:nvPr/>
        </p:nvCxnSpPr>
        <p:spPr>
          <a:xfrm>
            <a:off x="2148840" y="2487168"/>
            <a:ext cx="640080" cy="0"/>
          </a:xfrm>
          <a:prstGeom prst="line">
            <a:avLst/>
          </a:prstGeom>
          <a:ln w="25400">
            <a:solidFill>
              <a:srgbClr val="30496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743200" y="1828800"/>
            <a:ext cx="1554480" cy="320040"/>
          </a:xfrm>
          <a:prstGeom prst="rect">
            <a:avLst/>
          </a:prstGeom>
          <a:noFill/>
        </p:spPr>
        <p:txBody>
          <a:bodyPr wrap="square" anchor="t">
            <a:spAutoFit/>
          </a:bodyPr>
          <a:lstStyle/>
          <a:p>
            <a:pPr algn="ctr"/>
            <a:r>
              <a:rPr sz="1400" b="1">
                <a:solidFill>
                  <a:srgbClr val="1E77FF"/>
                </a:solidFill>
                <a:latin typeface="Aptos"/>
              </a:rPr>
              <a:t>Intelligence</a:t>
            </a:r>
          </a:p>
        </p:txBody>
      </p:sp>
      <p:sp>
        <p:nvSpPr>
          <p:cNvPr id="10" name="TextBox 9"/>
          <p:cNvSpPr txBox="1"/>
          <p:nvPr/>
        </p:nvSpPr>
        <p:spPr>
          <a:xfrm>
            <a:off x="2788920" y="2240280"/>
            <a:ext cx="1554480" cy="502920"/>
          </a:xfrm>
          <a:prstGeom prst="rect">
            <a:avLst/>
          </a:prstGeom>
          <a:noFill/>
        </p:spPr>
        <p:txBody>
          <a:bodyPr wrap="square" anchor="t">
            <a:spAutoFit/>
          </a:bodyPr>
          <a:lstStyle/>
          <a:p>
            <a:pPr algn="ctr"/>
            <a:r>
              <a:rPr sz="1700" b="1">
                <a:solidFill>
                  <a:srgbClr val="F8FAFC"/>
                </a:solidFill>
                <a:latin typeface="Aptos"/>
              </a:rPr>
              <a:t>ML + Features</a:t>
            </a:r>
          </a:p>
        </p:txBody>
      </p:sp>
      <p:cxnSp>
        <p:nvCxnSpPr>
          <p:cNvPr id="11" name="Connector 10"/>
          <p:cNvCxnSpPr/>
          <p:nvPr/>
        </p:nvCxnSpPr>
        <p:spPr>
          <a:xfrm>
            <a:off x="4434840" y="2487168"/>
            <a:ext cx="640080" cy="0"/>
          </a:xfrm>
          <a:prstGeom prst="line">
            <a:avLst/>
          </a:prstGeom>
          <a:ln w="25400">
            <a:solidFill>
              <a:srgbClr val="30496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37760" y="1828800"/>
            <a:ext cx="1828800" cy="320040"/>
          </a:xfrm>
          <a:prstGeom prst="rect">
            <a:avLst/>
          </a:prstGeom>
          <a:noFill/>
        </p:spPr>
        <p:txBody>
          <a:bodyPr wrap="square" anchor="t">
            <a:spAutoFit/>
          </a:bodyPr>
          <a:lstStyle/>
          <a:p>
            <a:pPr algn="ctr"/>
            <a:r>
              <a:rPr sz="1400" b="1">
                <a:solidFill>
                  <a:srgbClr val="36D399"/>
                </a:solidFill>
                <a:latin typeface="Aptos"/>
              </a:rPr>
              <a:t>Explainability</a:t>
            </a:r>
          </a:p>
        </p:txBody>
      </p:sp>
      <p:sp>
        <p:nvSpPr>
          <p:cNvPr id="13" name="TextBox 12"/>
          <p:cNvSpPr txBox="1"/>
          <p:nvPr/>
        </p:nvSpPr>
        <p:spPr>
          <a:xfrm>
            <a:off x="5166360" y="2240280"/>
            <a:ext cx="1371600" cy="502920"/>
          </a:xfrm>
          <a:prstGeom prst="rect">
            <a:avLst/>
          </a:prstGeom>
          <a:noFill/>
        </p:spPr>
        <p:txBody>
          <a:bodyPr wrap="square" anchor="t">
            <a:spAutoFit/>
          </a:bodyPr>
          <a:lstStyle/>
          <a:p>
            <a:pPr algn="ctr"/>
            <a:r>
              <a:rPr sz="1700" b="1">
                <a:solidFill>
                  <a:srgbClr val="F8FAFC"/>
                </a:solidFill>
                <a:latin typeface="Aptos"/>
              </a:rPr>
              <a:t>SHAP</a:t>
            </a:r>
          </a:p>
        </p:txBody>
      </p:sp>
      <p:cxnSp>
        <p:nvCxnSpPr>
          <p:cNvPr id="14" name="Connector 13"/>
          <p:cNvCxnSpPr/>
          <p:nvPr/>
        </p:nvCxnSpPr>
        <p:spPr>
          <a:xfrm>
            <a:off x="6537960" y="2487168"/>
            <a:ext cx="640080" cy="0"/>
          </a:xfrm>
          <a:prstGeom prst="line">
            <a:avLst/>
          </a:prstGeom>
          <a:ln w="25400">
            <a:solidFill>
              <a:srgbClr val="30496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95160" y="1828800"/>
            <a:ext cx="1828800" cy="320040"/>
          </a:xfrm>
          <a:prstGeom prst="rect">
            <a:avLst/>
          </a:prstGeom>
          <a:noFill/>
        </p:spPr>
        <p:txBody>
          <a:bodyPr wrap="square" anchor="t">
            <a:spAutoFit/>
          </a:bodyPr>
          <a:lstStyle/>
          <a:p>
            <a:pPr algn="ctr"/>
            <a:r>
              <a:rPr sz="1400" b="1">
                <a:solidFill>
                  <a:srgbClr val="F5B446"/>
                </a:solidFill>
                <a:latin typeface="Aptos"/>
              </a:rPr>
              <a:t>Communication</a:t>
            </a:r>
          </a:p>
        </p:txBody>
      </p:sp>
      <p:sp>
        <p:nvSpPr>
          <p:cNvPr id="16" name="TextBox 15"/>
          <p:cNvSpPr txBox="1"/>
          <p:nvPr/>
        </p:nvSpPr>
        <p:spPr>
          <a:xfrm>
            <a:off x="7315200" y="2240280"/>
            <a:ext cx="1371600" cy="502920"/>
          </a:xfrm>
          <a:prstGeom prst="rect">
            <a:avLst/>
          </a:prstGeom>
          <a:noFill/>
        </p:spPr>
        <p:txBody>
          <a:bodyPr wrap="square" anchor="t">
            <a:spAutoFit/>
          </a:bodyPr>
          <a:lstStyle/>
          <a:p>
            <a:pPr algn="ctr"/>
            <a:r>
              <a:rPr sz="1700" b="1">
                <a:solidFill>
                  <a:srgbClr val="F8FAFC"/>
                </a:solidFill>
                <a:latin typeface="Aptos"/>
              </a:rPr>
              <a:t>Gemini</a:t>
            </a:r>
          </a:p>
        </p:txBody>
      </p:sp>
      <p:cxnSp>
        <p:nvCxnSpPr>
          <p:cNvPr id="17" name="Connector 16"/>
          <p:cNvCxnSpPr/>
          <p:nvPr/>
        </p:nvCxnSpPr>
        <p:spPr>
          <a:xfrm>
            <a:off x="8732520" y="2487168"/>
            <a:ext cx="640080" cy="0"/>
          </a:xfrm>
          <a:prstGeom prst="line">
            <a:avLst/>
          </a:prstGeom>
          <a:ln w="25400">
            <a:solidFill>
              <a:srgbClr val="30496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144000" y="1828800"/>
            <a:ext cx="2011680" cy="320040"/>
          </a:xfrm>
          <a:prstGeom prst="rect">
            <a:avLst/>
          </a:prstGeom>
          <a:noFill/>
        </p:spPr>
        <p:txBody>
          <a:bodyPr wrap="square" anchor="t">
            <a:spAutoFit/>
          </a:bodyPr>
          <a:lstStyle/>
          <a:p>
            <a:pPr algn="ctr"/>
            <a:r>
              <a:rPr sz="1400" b="1">
                <a:solidFill>
                  <a:srgbClr val="F87171"/>
                </a:solidFill>
                <a:latin typeface="Aptos"/>
              </a:rPr>
              <a:t>Decision support</a:t>
            </a:r>
          </a:p>
        </p:txBody>
      </p:sp>
      <p:sp>
        <p:nvSpPr>
          <p:cNvPr id="19" name="TextBox 18"/>
          <p:cNvSpPr txBox="1"/>
          <p:nvPr/>
        </p:nvSpPr>
        <p:spPr>
          <a:xfrm>
            <a:off x="9372600" y="2240280"/>
            <a:ext cx="1828800" cy="502920"/>
          </a:xfrm>
          <a:prstGeom prst="rect">
            <a:avLst/>
          </a:prstGeom>
          <a:noFill/>
        </p:spPr>
        <p:txBody>
          <a:bodyPr wrap="square" anchor="t">
            <a:spAutoFit/>
          </a:bodyPr>
          <a:lstStyle/>
          <a:p>
            <a:pPr algn="ctr"/>
            <a:r>
              <a:rPr sz="1700" b="1">
                <a:solidFill>
                  <a:srgbClr val="F8FAFC"/>
                </a:solidFill>
                <a:latin typeface="Aptos"/>
              </a:rPr>
              <a:t>Human review</a:t>
            </a:r>
          </a:p>
        </p:txBody>
      </p:sp>
      <p:sp>
        <p:nvSpPr>
          <p:cNvPr id="20" name="Rounded Rectangle 19"/>
          <p:cNvSpPr/>
          <p:nvPr/>
        </p:nvSpPr>
        <p:spPr>
          <a:xfrm>
            <a:off x="1097280" y="3703320"/>
            <a:ext cx="9966960" cy="1508760"/>
          </a:xfrm>
          <a:prstGeom prst="roundRect">
            <a:avLst/>
          </a:prstGeom>
          <a:solidFill>
            <a:srgbClr val="0E1F36"/>
          </a:solidFill>
          <a:ln w="12700">
            <a:solidFill>
              <a:srgbClr val="3049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0" y="3703320"/>
            <a:ext cx="50292" cy="1508760"/>
          </a:xfrm>
          <a:prstGeom prst="rect">
            <a:avLst/>
          </a:prstGeom>
          <a:solidFill>
            <a:srgbClr val="58C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98448" y="3867911"/>
            <a:ext cx="9601200" cy="320040"/>
          </a:xfrm>
          <a:prstGeom prst="rect">
            <a:avLst/>
          </a:prstGeom>
          <a:noFill/>
        </p:spPr>
        <p:txBody>
          <a:bodyPr wrap="square" anchor="t">
            <a:spAutoFit/>
          </a:bodyPr>
          <a:lstStyle/>
          <a:p>
            <a:pPr algn="l"/>
            <a:r>
              <a:rPr sz="1500" b="1">
                <a:solidFill>
                  <a:srgbClr val="F8FAFC"/>
                </a:solidFill>
                <a:latin typeface="Aptos"/>
              </a:rPr>
              <a:t>The message to leave with the interviewer</a:t>
            </a:r>
          </a:p>
        </p:txBody>
      </p:sp>
      <p:sp>
        <p:nvSpPr>
          <p:cNvPr id="23" name="TextBox 22"/>
          <p:cNvSpPr txBox="1"/>
          <p:nvPr/>
        </p:nvSpPr>
        <p:spPr>
          <a:xfrm>
            <a:off x="1298448" y="4270248"/>
            <a:ext cx="9582912" cy="822959"/>
          </a:xfrm>
          <a:prstGeom prst="rect">
            <a:avLst/>
          </a:prstGeom>
          <a:noFill/>
        </p:spPr>
        <p:txBody>
          <a:bodyPr wrap="square" anchor="t">
            <a:spAutoFit/>
          </a:bodyPr>
          <a:lstStyle/>
          <a:p>
            <a:pPr algn="l"/>
            <a:r>
              <a:rPr sz="1120" b="0">
                <a:solidFill>
                  <a:srgbClr val="B2C2D6"/>
                </a:solidFill>
                <a:latin typeface="Aptos"/>
              </a:rPr>
              <a:t>“I built an end-to-end insurance claim risk triage prototype that combines data quality, feature engineering, model comparison, probability-based risk scoring, SHAP explainability and a constrained GenAI explanation layer—while keeping the investigator in control of the final decision.”</a:t>
            </a:r>
          </a:p>
        </p:txBody>
      </p:sp>
      <p:sp>
        <p:nvSpPr>
          <p:cNvPr id="24" name="TextBox 23"/>
          <p:cNvSpPr txBox="1"/>
          <p:nvPr/>
        </p:nvSpPr>
        <p:spPr>
          <a:xfrm>
            <a:off x="4572000" y="5623560"/>
            <a:ext cx="3017520" cy="502920"/>
          </a:xfrm>
          <a:prstGeom prst="rect">
            <a:avLst/>
          </a:prstGeom>
          <a:noFill/>
        </p:spPr>
        <p:txBody>
          <a:bodyPr wrap="square" anchor="t">
            <a:spAutoFit/>
          </a:bodyPr>
          <a:lstStyle/>
          <a:p>
            <a:pPr algn="ctr"/>
            <a:r>
              <a:rPr sz="2500" b="1">
                <a:solidFill>
                  <a:srgbClr val="F8FAFC"/>
                </a:solidFill>
                <a:latin typeface="Aptos"/>
              </a:rPr>
              <a:t>Thank you</a:t>
            </a:r>
          </a:p>
        </p:txBody>
      </p:sp>
      <p:sp>
        <p:nvSpPr>
          <p:cNvPr id="25" name="TextBox 24"/>
          <p:cNvSpPr txBox="1"/>
          <p:nvPr/>
        </p:nvSpPr>
        <p:spPr>
          <a:xfrm>
            <a:off x="566928" y="6519672"/>
            <a:ext cx="7315200" cy="182880"/>
          </a:xfrm>
          <a:prstGeom prst="rect">
            <a:avLst/>
          </a:prstGeom>
          <a:noFill/>
        </p:spPr>
        <p:txBody>
          <a:bodyPr wrap="square" anchor="t">
            <a:spAutoFit/>
          </a:bodyPr>
          <a:lstStyle/>
          <a:p>
            <a:pPr algn="l"/>
            <a:r>
              <a:rPr sz="850" b="0">
                <a:solidFill>
                  <a:srgbClr val="B2C2D6"/>
                </a:solidFill>
                <a:latin typeface="Aptos"/>
              </a:rPr>
              <a:t>Insurance Claim Risk Detection  •  Interview Presentation</a:t>
            </a:r>
          </a:p>
        </p:txBody>
      </p:sp>
      <p:sp>
        <p:nvSpPr>
          <p:cNvPr id="26" name="TextBox 25"/>
          <p:cNvSpPr txBox="1"/>
          <p:nvPr/>
        </p:nvSpPr>
        <p:spPr>
          <a:xfrm>
            <a:off x="11201400" y="6492240"/>
            <a:ext cx="411480" cy="201168"/>
          </a:xfrm>
          <a:prstGeom prst="rect">
            <a:avLst/>
          </a:prstGeom>
          <a:noFill/>
        </p:spPr>
        <p:txBody>
          <a:bodyPr wrap="square" anchor="t">
            <a:spAutoFit/>
          </a:bodyPr>
          <a:lstStyle/>
          <a:p>
            <a:pPr algn="r"/>
            <a:r>
              <a:rPr sz="900" b="1">
                <a:solidFill>
                  <a:srgbClr val="B2C2D6"/>
                </a:solidFill>
                <a:latin typeface="Aptos"/>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Claim Risk Detection — Interview Presentation</dc:title>
  <dc:subject>End-to-end project explanation</dc:subject>
  <dc:creator>Jyo</dc:creator>
  <cp:keywords>insurance, claims, fraud risk, machine learning, SHAP, Gemini, Streamlit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